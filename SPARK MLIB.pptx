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87" r:id="rId14"/>
    <p:sldId id="268" r:id="rId15"/>
    <p:sldId id="269" r:id="rId16"/>
    <p:sldId id="288" r:id="rId17"/>
    <p:sldId id="271" r:id="rId18"/>
    <p:sldId id="272" r:id="rId19"/>
    <p:sldId id="273" r:id="rId20"/>
    <p:sldId id="274" r:id="rId21"/>
    <p:sldId id="282" r:id="rId22"/>
    <p:sldId id="283" r:id="rId23"/>
    <p:sldId id="284" r:id="rId24"/>
    <p:sldId id="285" r:id="rId25"/>
    <p:sldId id="286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77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17E5B-A2BB-4EE7-B7C3-340160C1C40B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ADEF3-5B61-4675-9C14-DF620B6F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2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ADEF3-5B61-4675-9C14-DF620B6F7A7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4FC1-8272-C56F-386B-D03CE7813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C2C22-BCB8-41F5-93B9-901E59973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25B2-CA06-40C4-3EDB-8275851E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44117-67FA-3311-D699-D7D90FB5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F6B18-445F-D6DE-9D73-BFE9B675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84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C404-94A0-8409-9CBA-A7951428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3AEA-20A7-7FB8-CE03-49ECF4F8A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B9918-5689-3B4E-44E9-E19320AC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42F1-F76C-3A2C-F4C2-A1876FDC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A648-A1E7-41FB-2863-36C23AD2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54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2418-82F0-5E2C-EB1B-D1D5E9FCD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E6EBB-A730-1B88-627C-88D3DE48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166BF-DBC3-7B99-96CD-E1B434B8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5D70B-9556-BA27-4986-2A4E3DF4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56F4B-3221-8BDC-8C3E-F6750A01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53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A843-C0A4-5CCD-A2E0-5CCFC5F6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DD10-701A-03A9-5742-1E280C154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17F60-018F-3970-EBB3-CB5C367CD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F7E35-08CA-DD37-EA05-B98F7B3A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94819-D882-2892-C81D-6C42F157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AEC22-580A-92BB-2770-C4EC73B8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75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7863-3274-3FA7-66E4-E146B74E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AD7D7-D74E-64E7-E562-03220FA4F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BF805-451D-C8B3-A1B0-6AFB7EDCE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B9CD1-2B2A-0109-0A67-1DF7928B0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DE00D-66F4-8EA8-4B38-C91885E14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665B7-BAED-BC0F-3D6F-1BCB44E2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3170B-F95F-2A59-40DE-35E70412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63134-9FF8-B3E5-F6FD-84823AB3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65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6CE1-F874-E58A-D9DA-5EE813EE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9429D-76DF-8C37-9A8F-6D5EA43A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80DB9-734B-6815-C115-621218AC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30064-58EC-0E09-EF70-BEEE7890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18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78D8A-B092-DB6E-E72B-FF99CC5BB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5EE68-3B7E-735F-3ED5-17F91F18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D1BB-A339-CDAA-D705-81B6E801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90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984A-8A9F-F647-4D98-4FBA632C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862D-8BB7-404C-F311-E71E07EDA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ACFF0-A30E-070F-A001-304EC7F4C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024DE-C146-BA55-5F0C-7FD20281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F30D1-F799-AA55-3176-D8899116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C19AA-1DBB-20AE-BA2C-3FDD1612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6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1C68-40ED-14E7-7380-9227903B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D8C89-3935-2850-D08A-9F71E1189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08B84-A5EE-5914-745C-D0B7C7457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53EFE-EDE2-1010-310D-5517813B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DFEE8-8BB9-A4E6-DEB9-71848F93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02CD4-E631-107D-5F8E-E2E47F03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5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664C-1855-6314-A74C-CD1D293F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409B-9C79-7C69-DFD2-BB221A201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4F68-EC72-7654-D083-DE65A0CD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36AD8-0396-11A5-B7AB-89668B0BC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719AE-89C6-CF2D-D0E4-C9C7D70C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58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37457D-E78D-B87E-6C86-7E1D73975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23F59-7238-4EAC-8E07-E73932110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B49C-6724-A7E6-84CD-B35781F0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BD3F-87F7-4D9E-AADD-5F4722F9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EBE7A-A2F0-EDDB-CD7E-39194A3B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4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5C18F-5DE9-CD4A-C9E5-1614D5CA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8758B-8080-1BC8-98C1-64F8278E0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7F1CA-1164-6337-67B7-217CCD19C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49B60-1E49-4A50-AA0E-A97A7E2B7E3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8B6A2-27FD-BD35-A6B9-1994C7FFF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51C11-E778-759B-D74B-07C43CA19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F2F7-E87C-4EBC-AAFC-76A1D67EF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F59E-0E53-5235-09C0-983BF9B51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SPARK MLIB</a:t>
            </a:r>
          </a:p>
        </p:txBody>
      </p:sp>
    </p:spTree>
    <p:extLst>
      <p:ext uri="{BB962C8B-B14F-4D97-AF65-F5344CB8AC3E}">
        <p14:creationId xmlns:p14="http://schemas.microsoft.com/office/powerpoint/2010/main" val="17291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3839CA75-2865-5C1C-3827-D41707367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704850"/>
            <a:ext cx="96964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2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B7794-AF75-3474-04EE-9F4087C61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Spark </a:t>
            </a:r>
            <a:r>
              <a:rPr lang="en-US" dirty="0" err="1"/>
              <a:t>MLlib</a:t>
            </a:r>
            <a:r>
              <a:rPr lang="en-US" dirty="0"/>
              <a:t> is a machine learning library designed for scalability and ease of use within the Spark ecosystem. </a:t>
            </a:r>
          </a:p>
          <a:p>
            <a:endParaRPr lang="en-US" dirty="0"/>
          </a:p>
          <a:p>
            <a:r>
              <a:rPr lang="en-US" dirty="0"/>
              <a:t>Spark </a:t>
            </a:r>
            <a:r>
              <a:rPr lang="en-US" dirty="0" err="1"/>
              <a:t>MLlib</a:t>
            </a:r>
            <a:r>
              <a:rPr lang="en-US" dirty="0"/>
              <a:t> is </a:t>
            </a:r>
            <a:r>
              <a:rPr lang="en-US" b="1" dirty="0"/>
              <a:t>a module on top of Spark Core that provides machine learning primitives</a:t>
            </a:r>
            <a:r>
              <a:rPr lang="en-US" dirty="0"/>
              <a:t> as APIs..</a:t>
            </a:r>
          </a:p>
          <a:p>
            <a:endParaRPr lang="en-US" dirty="0"/>
          </a:p>
          <a:p>
            <a:r>
              <a:rPr lang="en-US" dirty="0"/>
              <a:t>It provides a comprehensive set of tools and algorithms for various machine learning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84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96DD-AE76-7067-3FCD-05C27A324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18" y="18256"/>
            <a:ext cx="10515600" cy="750672"/>
          </a:xfrm>
        </p:spPr>
        <p:txBody>
          <a:bodyPr/>
          <a:lstStyle/>
          <a:p>
            <a:r>
              <a:rPr lang="en-IN" dirty="0"/>
              <a:t>Key ML Components in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3D246-3128-2A1F-87ED-972F97FAF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074952"/>
            <a:ext cx="11859491" cy="57647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Databricks Machine Learning (ML) Runtime</a:t>
            </a:r>
            <a:endParaRPr lang="en-IN" dirty="0"/>
          </a:p>
          <a:p>
            <a:r>
              <a:rPr lang="en-IN" dirty="0"/>
              <a:t>Pre-installed with popular ML libraries (e.g., TensorFlow, </a:t>
            </a:r>
            <a:r>
              <a:rPr lang="en-IN" dirty="0" err="1"/>
              <a:t>PyTorch</a:t>
            </a:r>
            <a:r>
              <a:rPr lang="en-IN" dirty="0"/>
              <a:t>, scikit-learn, </a:t>
            </a:r>
            <a:r>
              <a:rPr lang="en-IN" dirty="0" err="1"/>
              <a:t>XGBoost</a:t>
            </a:r>
            <a:r>
              <a:rPr lang="en-IN" dirty="0"/>
              <a:t>).</a:t>
            </a:r>
          </a:p>
          <a:p>
            <a:r>
              <a:rPr lang="en-IN" dirty="0"/>
              <a:t>GPU-accelerated for deep learning workloads.</a:t>
            </a:r>
          </a:p>
          <a:p>
            <a:r>
              <a:rPr lang="en-IN" dirty="0"/>
              <a:t>Includes </a:t>
            </a:r>
            <a:r>
              <a:rPr lang="en-IN" dirty="0" err="1"/>
              <a:t>MLflow</a:t>
            </a:r>
            <a:r>
              <a:rPr lang="en-IN" dirty="0"/>
              <a:t> for experiment tracking.</a:t>
            </a:r>
          </a:p>
          <a:p>
            <a:pPr marL="0" indent="0">
              <a:buNone/>
            </a:pPr>
            <a:r>
              <a:rPr lang="en-IN" b="1" dirty="0"/>
              <a:t>2. </a:t>
            </a:r>
            <a:r>
              <a:rPr lang="en-IN" b="1" dirty="0" err="1"/>
              <a:t>MLflow</a:t>
            </a:r>
            <a:r>
              <a:rPr lang="en-IN" dirty="0"/>
              <a:t> (Integrated Open-Source Platform)</a:t>
            </a:r>
          </a:p>
          <a:p>
            <a:r>
              <a:rPr lang="en-IN" b="1" dirty="0"/>
              <a:t>Tracking</a:t>
            </a:r>
            <a:r>
              <a:rPr lang="en-IN" dirty="0"/>
              <a:t>: Log experiments, parameters, metrics, and artifacts.</a:t>
            </a:r>
          </a:p>
          <a:p>
            <a:r>
              <a:rPr lang="en-IN" b="1" dirty="0"/>
              <a:t>Projects</a:t>
            </a:r>
            <a:r>
              <a:rPr lang="en-IN" dirty="0"/>
              <a:t>: Package and reproduce ML code.</a:t>
            </a:r>
          </a:p>
          <a:p>
            <a:r>
              <a:rPr lang="en-IN" b="1" dirty="0"/>
              <a:t>Models</a:t>
            </a:r>
            <a:r>
              <a:rPr lang="en-IN" dirty="0"/>
              <a:t>: Standardized model packaging and deployment.</a:t>
            </a:r>
          </a:p>
          <a:p>
            <a:r>
              <a:rPr lang="en-IN" b="1" dirty="0"/>
              <a:t>Model Registry</a:t>
            </a:r>
            <a:r>
              <a:rPr lang="en-IN" dirty="0"/>
              <a:t>: Centralized model lifecycle management.</a:t>
            </a:r>
          </a:p>
          <a:p>
            <a:pPr marL="0" indent="0">
              <a:buNone/>
            </a:pPr>
            <a:r>
              <a:rPr lang="en-IN" b="1" dirty="0"/>
              <a:t>3. Databricks </a:t>
            </a:r>
            <a:r>
              <a:rPr lang="en-IN" b="1" dirty="0" err="1"/>
              <a:t>AutoML</a:t>
            </a:r>
            <a:endParaRPr lang="en-IN" dirty="0"/>
          </a:p>
          <a:p>
            <a:r>
              <a:rPr lang="en-IN" dirty="0"/>
              <a:t>Automates model training for classification &amp; regression.</a:t>
            </a:r>
          </a:p>
          <a:p>
            <a:r>
              <a:rPr lang="en-IN" dirty="0"/>
              <a:t>Generates Python notebooks with best-performing models (</a:t>
            </a:r>
            <a:r>
              <a:rPr lang="en-IN" dirty="0" err="1"/>
              <a:t>XGBoost</a:t>
            </a:r>
            <a:r>
              <a:rPr lang="en-IN" dirty="0"/>
              <a:t>, </a:t>
            </a:r>
            <a:r>
              <a:rPr lang="en-IN" dirty="0" err="1"/>
              <a:t>LightGBM</a:t>
            </a:r>
            <a:r>
              <a:rPr lang="en-IN" dirty="0"/>
              <a:t>, etc.).</a:t>
            </a:r>
          </a:p>
          <a:p>
            <a:r>
              <a:rPr lang="en-IN" dirty="0"/>
              <a:t>Includes feature importance and visualizations.</a:t>
            </a:r>
          </a:p>
          <a:p>
            <a:pPr marL="0" indent="0">
              <a:buNone/>
            </a:pPr>
            <a:r>
              <a:rPr lang="en-IN" b="1" dirty="0"/>
              <a:t>4. Feature Store</a:t>
            </a:r>
            <a:endParaRPr lang="en-IN" dirty="0"/>
          </a:p>
          <a:p>
            <a:r>
              <a:rPr lang="en-IN" dirty="0"/>
              <a:t>Centralized repository for ML features.</a:t>
            </a:r>
          </a:p>
          <a:p>
            <a:r>
              <a:rPr lang="en-IN" dirty="0"/>
              <a:t>Ensures consistency between training &amp; inference.</a:t>
            </a:r>
          </a:p>
          <a:p>
            <a:r>
              <a:rPr lang="en-IN" dirty="0"/>
              <a:t>Supports time-travel (point-in-time feature lookups).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63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AF0B-3AB4-EEEC-D397-C9108F42A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5. Distributed ML with Spark </a:t>
            </a:r>
            <a:r>
              <a:rPr lang="en-IN" b="1" dirty="0" err="1"/>
              <a:t>MLlib</a:t>
            </a:r>
            <a:endParaRPr lang="en-IN" dirty="0"/>
          </a:p>
          <a:p>
            <a:r>
              <a:rPr lang="en-IN" dirty="0"/>
              <a:t>Scalable ML algorithms (classification, regression, clustering).</a:t>
            </a:r>
          </a:p>
          <a:p>
            <a:r>
              <a:rPr lang="en-IN" dirty="0"/>
              <a:t>Works with Spark </a:t>
            </a:r>
            <a:r>
              <a:rPr lang="en-IN" dirty="0" err="1"/>
              <a:t>DataFrames</a:t>
            </a:r>
            <a:r>
              <a:rPr lang="en-IN" dirty="0"/>
              <a:t> for big data processing.</a:t>
            </a:r>
          </a:p>
          <a:p>
            <a:pPr marL="0" indent="0">
              <a:buNone/>
            </a:pPr>
            <a:r>
              <a:rPr lang="en-IN" b="1" dirty="0"/>
              <a:t>6. </a:t>
            </a:r>
            <a:r>
              <a:rPr lang="en-IN" b="1" dirty="0" err="1"/>
              <a:t>Hyperopt</a:t>
            </a:r>
            <a:r>
              <a:rPr lang="en-IN" b="1" dirty="0"/>
              <a:t> + Spark for Hyperparameter Tuning</a:t>
            </a:r>
            <a:endParaRPr lang="en-IN" dirty="0"/>
          </a:p>
          <a:p>
            <a:r>
              <a:rPr lang="en-IN" dirty="0"/>
              <a:t>Distributed hyperparameter optimization using Bayesian methods.</a:t>
            </a:r>
          </a:p>
          <a:p>
            <a:r>
              <a:rPr lang="en-IN" dirty="0"/>
              <a:t>Integrates with </a:t>
            </a:r>
            <a:r>
              <a:rPr lang="en-IN" dirty="0" err="1"/>
              <a:t>MLflow</a:t>
            </a:r>
            <a:r>
              <a:rPr lang="en-IN" dirty="0"/>
              <a:t> for tracking trials.</a:t>
            </a:r>
          </a:p>
          <a:p>
            <a:pPr marL="0" indent="0">
              <a:buNone/>
            </a:pPr>
            <a:r>
              <a:rPr lang="en-IN" b="1" dirty="0"/>
              <a:t>7. Deep Learning Support</a:t>
            </a:r>
            <a:endParaRPr lang="en-IN" dirty="0"/>
          </a:p>
          <a:p>
            <a:r>
              <a:rPr lang="en-IN" dirty="0"/>
              <a:t>GPU clusters for training deep neural networks.</a:t>
            </a:r>
          </a:p>
          <a:p>
            <a:r>
              <a:rPr lang="en-IN" dirty="0"/>
              <a:t>Integration with </a:t>
            </a:r>
            <a:r>
              <a:rPr lang="en-IN" dirty="0" err="1"/>
              <a:t>Horovod</a:t>
            </a:r>
            <a:r>
              <a:rPr lang="en-IN" dirty="0"/>
              <a:t> (distributed deep learning).</a:t>
            </a:r>
          </a:p>
          <a:p>
            <a:r>
              <a:rPr lang="en-IN" dirty="0"/>
              <a:t>Native support for TensorFlow, </a:t>
            </a:r>
            <a:r>
              <a:rPr lang="en-IN" dirty="0" err="1"/>
              <a:t>PyTorch</a:t>
            </a:r>
            <a:r>
              <a:rPr lang="en-IN" dirty="0"/>
              <a:t>, and </a:t>
            </a:r>
            <a:r>
              <a:rPr lang="en-IN" dirty="0" err="1"/>
              <a:t>Keras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8. Model Serving (Databricks Model Serving)</a:t>
            </a:r>
            <a:endParaRPr lang="en-IN" dirty="0"/>
          </a:p>
          <a:p>
            <a:r>
              <a:rPr lang="en-IN" dirty="0"/>
              <a:t>Low-latency REST API endpoints for deployed models.</a:t>
            </a:r>
          </a:p>
          <a:p>
            <a:r>
              <a:rPr lang="en-IN" dirty="0"/>
              <a:t>Supports A/B testing and canary deployments.</a:t>
            </a:r>
          </a:p>
          <a:p>
            <a:pPr marL="0" indent="0">
              <a:buNone/>
            </a:pPr>
            <a:r>
              <a:rPr lang="en-IN" b="1" dirty="0"/>
              <a:t>9. Databricks Notebooks &amp; Collaboration</a:t>
            </a:r>
            <a:endParaRPr lang="en-IN" dirty="0"/>
          </a:p>
          <a:p>
            <a:r>
              <a:rPr lang="en-IN" dirty="0"/>
              <a:t>Interactive notebooks (Python, R, SQL, Scala) for ML development.</a:t>
            </a:r>
          </a:p>
          <a:p>
            <a:r>
              <a:rPr lang="en-IN" dirty="0"/>
              <a:t>Real-time collaboration with team members.</a:t>
            </a:r>
          </a:p>
          <a:p>
            <a:pPr marL="0" indent="0">
              <a:buNone/>
            </a:pPr>
            <a:r>
              <a:rPr lang="en-IN" b="1" dirty="0"/>
              <a:t>10. Delta Lake Integration</a:t>
            </a:r>
            <a:endParaRPr lang="en-IN" dirty="0"/>
          </a:p>
          <a:p>
            <a:r>
              <a:rPr lang="en-IN" dirty="0"/>
              <a:t>Reliable, ACID-compliant data storage for ML pipelines.</a:t>
            </a:r>
          </a:p>
          <a:p>
            <a:r>
              <a:rPr lang="en-IN" dirty="0"/>
              <a:t>Supports schema enforcement and time travel for reproducibility.</a:t>
            </a:r>
          </a:p>
          <a:p>
            <a:pPr marL="0" indent="0">
              <a:buNone/>
            </a:pPr>
            <a:r>
              <a:rPr lang="en-IN" b="1" dirty="0"/>
              <a:t>11. Unity </a:t>
            </a:r>
            <a:r>
              <a:rPr lang="en-IN" b="1" dirty="0" err="1"/>
              <a:t>Catalog</a:t>
            </a:r>
            <a:r>
              <a:rPr lang="en-IN" b="1" dirty="0"/>
              <a:t> (Governance &amp; Discovery)</a:t>
            </a:r>
            <a:endParaRPr lang="en-IN" dirty="0"/>
          </a:p>
          <a:p>
            <a:r>
              <a:rPr lang="en-IN" dirty="0"/>
              <a:t>Centralized model and feature lineage tracking.</a:t>
            </a:r>
          </a:p>
          <a:p>
            <a:r>
              <a:rPr lang="en-IN" dirty="0"/>
              <a:t>Access control for ML assets.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90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BC04-7EA0-0125-6E4B-193D0E43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355" y="0"/>
            <a:ext cx="10515600" cy="1325563"/>
          </a:xfrm>
        </p:spPr>
        <p:txBody>
          <a:bodyPr/>
          <a:lstStyle/>
          <a:p>
            <a:r>
              <a:rPr lang="en-IN" b="1" dirty="0"/>
              <a:t>Spark </a:t>
            </a:r>
            <a:r>
              <a:rPr lang="en-IN" b="1" dirty="0" err="1"/>
              <a:t>MLlib</a:t>
            </a:r>
            <a:r>
              <a:rPr lang="en-IN" b="1" dirty="0"/>
              <a:t> Components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2B83-FFEE-7EFA-50F6-3D6335A37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3" y="1087870"/>
            <a:ext cx="10515600" cy="577012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Algorithms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Classification: Logistic regression, decision trees, random forests, Naive Bayes</a:t>
            </a:r>
          </a:p>
          <a:p>
            <a:pPr lvl="1"/>
            <a:r>
              <a:rPr lang="en-IN" dirty="0"/>
              <a:t>Regression: Linear regression, generalized linear regression</a:t>
            </a:r>
          </a:p>
          <a:p>
            <a:pPr lvl="1"/>
            <a:r>
              <a:rPr lang="en-IN" dirty="0"/>
              <a:t>Clustering: K-means, Gaussian mixture, LDA</a:t>
            </a:r>
          </a:p>
          <a:p>
            <a:pPr lvl="1"/>
            <a:r>
              <a:rPr lang="en-IN" dirty="0"/>
              <a:t>Collaborative filtering: Alternating least squares (ALS)</a:t>
            </a:r>
          </a:p>
          <a:p>
            <a:r>
              <a:rPr lang="en-IN" b="1" dirty="0"/>
              <a:t>Feature Engineering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Feature extraction: TF-IDF, Word2Vec, </a:t>
            </a:r>
            <a:r>
              <a:rPr lang="en-IN" dirty="0" err="1"/>
              <a:t>CountVectorizer</a:t>
            </a:r>
            <a:endParaRPr lang="en-IN" dirty="0"/>
          </a:p>
          <a:p>
            <a:pPr lvl="1"/>
            <a:r>
              <a:rPr lang="en-IN" dirty="0"/>
              <a:t>Feature transformation: Tokenizer, </a:t>
            </a:r>
            <a:r>
              <a:rPr lang="en-IN" dirty="0" err="1"/>
              <a:t>StopWordsRemover</a:t>
            </a:r>
            <a:r>
              <a:rPr lang="en-IN" dirty="0"/>
              <a:t>, n-gram</a:t>
            </a:r>
          </a:p>
          <a:p>
            <a:pPr lvl="1"/>
            <a:r>
              <a:rPr lang="en-IN" dirty="0"/>
              <a:t>Feature selection: </a:t>
            </a:r>
            <a:r>
              <a:rPr lang="en-IN" dirty="0" err="1"/>
              <a:t>ChiSqSelector</a:t>
            </a:r>
            <a:r>
              <a:rPr lang="en-IN" dirty="0"/>
              <a:t>, </a:t>
            </a:r>
            <a:r>
              <a:rPr lang="en-IN" dirty="0" err="1"/>
              <a:t>VectorSlicer</a:t>
            </a:r>
            <a:endParaRPr lang="en-IN" dirty="0"/>
          </a:p>
          <a:p>
            <a:pPr lvl="1"/>
            <a:r>
              <a:rPr lang="en-IN" dirty="0"/>
              <a:t>Dimensionality reduction: PCA, SVD</a:t>
            </a:r>
          </a:p>
          <a:p>
            <a:r>
              <a:rPr lang="en-IN" b="1" dirty="0"/>
              <a:t>Pipelines</a:t>
            </a:r>
            <a:r>
              <a:rPr lang="en-IN" dirty="0"/>
              <a:t>:</a:t>
            </a:r>
          </a:p>
          <a:p>
            <a:pPr lvl="1"/>
            <a:r>
              <a:rPr lang="en-IN" dirty="0" err="1"/>
              <a:t>DataFrame</a:t>
            </a:r>
            <a:r>
              <a:rPr lang="en-IN" dirty="0"/>
              <a:t>-based API for building ML workflows</a:t>
            </a:r>
          </a:p>
          <a:p>
            <a:pPr lvl="1"/>
            <a:r>
              <a:rPr lang="en-IN" dirty="0"/>
              <a:t>Pipeline stages (Transformers and Estimators)</a:t>
            </a:r>
          </a:p>
          <a:p>
            <a:pPr lvl="1"/>
            <a:r>
              <a:rPr lang="en-IN" dirty="0"/>
              <a:t>Parameter tuning tools</a:t>
            </a:r>
          </a:p>
          <a:p>
            <a:r>
              <a:rPr lang="en-IN" b="1" dirty="0"/>
              <a:t>Utilities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Linear algebra operations (distributed matrices)</a:t>
            </a:r>
          </a:p>
          <a:p>
            <a:pPr lvl="1"/>
            <a:r>
              <a:rPr lang="en-IN" dirty="0"/>
              <a:t>Statistics functionality (hypothesis testing, correlations)</a:t>
            </a:r>
          </a:p>
          <a:p>
            <a:pPr lvl="1"/>
            <a:r>
              <a:rPr lang="en-IN" dirty="0"/>
              <a:t>Model evaluation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78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5A10-06F3-58B3-AA71-F1E5661BC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982" y="2103437"/>
            <a:ext cx="10515600" cy="1325563"/>
          </a:xfrm>
        </p:spPr>
        <p:txBody>
          <a:bodyPr/>
          <a:lstStyle/>
          <a:p>
            <a:r>
              <a:rPr lang="en-IN" dirty="0"/>
              <a:t>BUILD ML MODELS</a:t>
            </a:r>
          </a:p>
        </p:txBody>
      </p:sp>
    </p:spTree>
    <p:extLst>
      <p:ext uri="{BB962C8B-B14F-4D97-AF65-F5344CB8AC3E}">
        <p14:creationId xmlns:p14="http://schemas.microsoft.com/office/powerpoint/2010/main" val="420215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499D3-0C5A-5AAB-EE64-8D017524A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9773"/>
            <a:ext cx="1163781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6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3A5C5-87B8-E8F5-6B7A-329152AC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" y="93519"/>
            <a:ext cx="11637818" cy="658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81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73082-BC72-CB0E-6000-54341EE4A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3" y="1"/>
            <a:ext cx="11346872" cy="64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1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2AB34C-3860-D0ED-C9E5-6CD0BDB3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89709"/>
            <a:ext cx="11076709" cy="553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9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DAC95-7653-A019-0B26-730961533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74" y="384463"/>
            <a:ext cx="11772900" cy="618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06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13776-0D16-7689-3F6E-97291551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6762"/>
            <a:ext cx="11949545" cy="6029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Transformer:</a:t>
            </a:r>
          </a:p>
          <a:p>
            <a:r>
              <a:rPr lang="en-US" dirty="0"/>
              <a:t>A Transformer is an algorithm that can transform one </a:t>
            </a:r>
            <a:r>
              <a:rPr lang="en-US" dirty="0" err="1"/>
              <a:t>DataFrame</a:t>
            </a:r>
            <a:r>
              <a:rPr lang="en-US" dirty="0"/>
              <a:t> into another </a:t>
            </a:r>
            <a:r>
              <a:rPr lang="en-US" dirty="0" err="1"/>
              <a:t>DataFrame</a:t>
            </a:r>
            <a:r>
              <a:rPr lang="en-US" dirty="0"/>
              <a:t>. Technically, a Transformer implements a method transform(), which converts one </a:t>
            </a:r>
            <a:r>
              <a:rPr lang="en-US" dirty="0" err="1"/>
              <a:t>DataFrame</a:t>
            </a:r>
            <a:r>
              <a:rPr lang="en-US" dirty="0"/>
              <a:t> into another,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>
                <a:highlight>
                  <a:srgbClr val="FFFF00"/>
                </a:highlight>
              </a:rPr>
              <a:t>Estimator</a:t>
            </a:r>
            <a:r>
              <a:rPr lang="en-US" dirty="0"/>
              <a:t> is an algorithm which can be fit on a </a:t>
            </a:r>
            <a:r>
              <a:rPr lang="en-US" dirty="0" err="1"/>
              <a:t>DataFrame</a:t>
            </a:r>
            <a:r>
              <a:rPr lang="en-US" dirty="0"/>
              <a:t> to </a:t>
            </a:r>
            <a:r>
              <a:rPr lang="en-US" b="1" dirty="0">
                <a:highlight>
                  <a:srgbClr val="FFFF00"/>
                </a:highlight>
              </a:rPr>
              <a:t>produce</a:t>
            </a:r>
            <a:r>
              <a:rPr lang="en-US" dirty="0"/>
              <a:t> a </a:t>
            </a:r>
            <a:r>
              <a:rPr lang="en-US" b="1" dirty="0">
                <a:highlight>
                  <a:srgbClr val="FFFF00"/>
                </a:highlight>
              </a:rPr>
              <a:t>Transformer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Technically, an Estimator implements a method fit(), which accepts a </a:t>
            </a:r>
            <a:r>
              <a:rPr lang="en-US" dirty="0" err="1"/>
              <a:t>DataFrame</a:t>
            </a:r>
            <a:r>
              <a:rPr lang="en-US" dirty="0"/>
              <a:t> and produces</a:t>
            </a:r>
          </a:p>
          <a:p>
            <a:r>
              <a:rPr lang="en-US" b="1" dirty="0">
                <a:highlight>
                  <a:srgbClr val="FFFF00"/>
                </a:highlight>
              </a:rPr>
              <a:t>Model</a:t>
            </a:r>
            <a:r>
              <a:rPr lang="en-US" dirty="0"/>
              <a:t>, which is a </a:t>
            </a:r>
            <a:r>
              <a:rPr lang="en-US" b="1" dirty="0">
                <a:highlight>
                  <a:srgbClr val="FFFF00"/>
                </a:highlight>
              </a:rPr>
              <a:t>Transformer</a:t>
            </a:r>
            <a:r>
              <a:rPr lang="en-US" dirty="0"/>
              <a:t>. For example, a learning algorithm such as Logistic regression is an Estimator, and calling fit() trains a </a:t>
            </a:r>
            <a:r>
              <a:rPr lang="en-US" dirty="0" err="1"/>
              <a:t>LogisticRegressionModel</a:t>
            </a:r>
            <a:r>
              <a:rPr lang="en-US" dirty="0"/>
              <a:t>, which is a Model and hence a Transformer.</a:t>
            </a:r>
          </a:p>
          <a:p>
            <a:r>
              <a:rPr lang="en-US" dirty="0" err="1"/>
              <a:t>Transformer.transform</a:t>
            </a:r>
            <a:r>
              <a:rPr lang="en-US" dirty="0"/>
              <a:t>() and </a:t>
            </a:r>
            <a:r>
              <a:rPr lang="en-US" dirty="0" err="1"/>
              <a:t>Estimator.fit</a:t>
            </a:r>
            <a:r>
              <a:rPr lang="en-US" dirty="0"/>
              <a:t>() are both stateless. In the future, stateful algorithms may be supported via alternative concepts.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273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AD5F7F-F13A-81D4-BE24-1EEDC5E8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1" y="0"/>
            <a:ext cx="12148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29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38EA6C-4049-361F-B94E-289A1DC97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312"/>
            <a:ext cx="12192000" cy="62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52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2B327-68CB-9567-D739-DFF56FD6D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regression is a statistical method used to model the relationship between a dependent variable and one or more independent variables by fitting a linear equation to the observed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620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92FF-3E46-E0E9-66B4-1F8C5F68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009" y="1"/>
            <a:ext cx="10515600" cy="820882"/>
          </a:xfrm>
        </p:spPr>
        <p:txBody>
          <a:bodyPr/>
          <a:lstStyle/>
          <a:p>
            <a:r>
              <a:rPr lang="en-IN" dirty="0"/>
              <a:t>What is Logistic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88866-A89D-2318-4B29-61787399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5" y="1378815"/>
            <a:ext cx="11880272" cy="5302539"/>
          </a:xfrm>
        </p:spPr>
        <p:txBody>
          <a:bodyPr>
            <a:normAutofit/>
          </a:bodyPr>
          <a:lstStyle/>
          <a:p>
            <a:r>
              <a:rPr lang="en-US" dirty="0"/>
              <a:t>Logistic Regression is a classification algorithm (not regression despite the name).</a:t>
            </a:r>
          </a:p>
          <a:p>
            <a:endParaRPr lang="en-US" dirty="0"/>
          </a:p>
          <a:p>
            <a:r>
              <a:rPr lang="en-US" dirty="0"/>
              <a:t>It is used to predict categorical outcomes:</a:t>
            </a:r>
          </a:p>
          <a:p>
            <a:endParaRPr lang="en-US" dirty="0"/>
          </a:p>
          <a:p>
            <a:r>
              <a:rPr lang="en-US" dirty="0"/>
              <a:t>Binary classification → Yes/No, Pass/Fail, Survived/Not Survived.</a:t>
            </a:r>
          </a:p>
          <a:p>
            <a:endParaRPr lang="en-US" dirty="0"/>
          </a:p>
          <a:p>
            <a:r>
              <a:rPr lang="en-US" dirty="0"/>
              <a:t>Multiclass classification → Iris dataset (</a:t>
            </a:r>
            <a:r>
              <a:rPr lang="en-US" dirty="0" err="1"/>
              <a:t>Setosa</a:t>
            </a:r>
            <a:r>
              <a:rPr lang="en-US" dirty="0"/>
              <a:t>, Versicolor, Virginica).</a:t>
            </a:r>
          </a:p>
          <a:p>
            <a:endParaRPr lang="en-US" dirty="0"/>
          </a:p>
          <a:p>
            <a:r>
              <a:rPr lang="en-US" dirty="0"/>
              <a:t>It models the probability of a label using the logistic (sigmoid)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04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6ED602-D47F-3E1C-5B57-4A8436E6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3" y="280555"/>
            <a:ext cx="11378044" cy="64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79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5C36-C910-BFAA-1D37-328A3BC2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0491"/>
          </a:xfrm>
        </p:spPr>
        <p:txBody>
          <a:bodyPr>
            <a:normAutofit/>
          </a:bodyPr>
          <a:lstStyle/>
          <a:p>
            <a:r>
              <a:rPr lang="en-US" sz="2800" b="1" i="1" dirty="0"/>
              <a:t>create ,evaluate ,tune ml models using </a:t>
            </a:r>
            <a:r>
              <a:rPr lang="en-US" sz="2800" b="1" i="1" dirty="0" err="1"/>
              <a:t>pyspark</a:t>
            </a:r>
            <a:r>
              <a:rPr lang="en-US" sz="2800" b="1" i="1" dirty="0"/>
              <a:t> using student </a:t>
            </a:r>
            <a:r>
              <a:rPr lang="en-US" sz="2800" b="1" i="1" dirty="0" err="1"/>
              <a:t>dataframe</a:t>
            </a:r>
            <a:endParaRPr lang="en-IN" sz="28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71582-0D76-8B15-79B7-6EF1BE3AC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a model (Logistic Regression for pass/fail prediction)</a:t>
            </a:r>
          </a:p>
          <a:p>
            <a:endParaRPr lang="en-IN" dirty="0"/>
          </a:p>
          <a:p>
            <a:r>
              <a:rPr lang="en-IN" dirty="0"/>
              <a:t>Evaluating the model (accuracy, precision, recall, etc.)</a:t>
            </a:r>
          </a:p>
          <a:p>
            <a:endParaRPr lang="en-IN" dirty="0"/>
          </a:p>
          <a:p>
            <a:r>
              <a:rPr lang="en-IN" dirty="0"/>
              <a:t>Hyperparameter tuning using </a:t>
            </a:r>
            <a:r>
              <a:rPr lang="en-IN" dirty="0" err="1"/>
              <a:t>CrossValidator</a:t>
            </a:r>
            <a:r>
              <a:rPr lang="en-IN" dirty="0"/>
              <a:t> and </a:t>
            </a:r>
            <a:r>
              <a:rPr lang="en-IN" dirty="0" err="1"/>
              <a:t>ParamGridBuilder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23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16F11-0BB8-EB62-EC6E-0F0B6578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50" y="467591"/>
            <a:ext cx="9922100" cy="580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34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3BAA-CF6C-C14E-2CD7-83A11638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527" y="0"/>
            <a:ext cx="10515600" cy="1325563"/>
          </a:xfrm>
        </p:spPr>
        <p:txBody>
          <a:bodyPr/>
          <a:lstStyle/>
          <a:p>
            <a:r>
              <a:rPr lang="en-IN" dirty="0" err="1"/>
              <a:t>BinaryClassificationEvaluator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04DE-C456-33DB-14C9-EBC7D1577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253331"/>
            <a:ext cx="11610109" cy="4351338"/>
          </a:xfrm>
        </p:spPr>
        <p:txBody>
          <a:bodyPr/>
          <a:lstStyle/>
          <a:p>
            <a:r>
              <a:rPr lang="en-US" dirty="0"/>
              <a:t>In PySpark </a:t>
            </a:r>
            <a:r>
              <a:rPr lang="en-US" dirty="0" err="1"/>
              <a:t>MLlib</a:t>
            </a:r>
            <a:r>
              <a:rPr lang="en-US" dirty="0"/>
              <a:t>,</a:t>
            </a:r>
          </a:p>
          <a:p>
            <a:endParaRPr lang="en-US" dirty="0"/>
          </a:p>
          <a:p>
            <a:r>
              <a:rPr lang="en-US" dirty="0"/>
              <a:t>🔑 </a:t>
            </a:r>
            <a:r>
              <a:rPr lang="en-US" dirty="0" err="1"/>
              <a:t>BinaryClassificationEvaluator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is an evaluator class used to measure the performance of binary classification models (where the label is 0 or 1, e.g., pass/fail, churn/not churn, fraud/not fraud).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383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B7B3-226C-70CA-F5A6-591000C6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564" y="18255"/>
            <a:ext cx="10515600" cy="1325563"/>
          </a:xfrm>
        </p:spPr>
        <p:txBody>
          <a:bodyPr/>
          <a:lstStyle/>
          <a:p>
            <a:r>
              <a:rPr lang="en-IN" dirty="0" err="1"/>
              <a:t>CrossValidator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375A8-63F3-14B5-8644-D57FFA061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2" y="1108653"/>
            <a:ext cx="12112337" cy="53544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🔑 </a:t>
            </a:r>
            <a:r>
              <a:rPr lang="en-US" dirty="0" err="1"/>
              <a:t>CrossValidator</a:t>
            </a:r>
            <a:r>
              <a:rPr lang="en-US" dirty="0"/>
              <a:t> in PySpark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CrossValidator</a:t>
            </a:r>
            <a:r>
              <a:rPr lang="en-US" dirty="0"/>
              <a:t> is a tool in PySpark </a:t>
            </a:r>
            <a:r>
              <a:rPr lang="en-US" dirty="0" err="1"/>
              <a:t>MLlib</a:t>
            </a:r>
            <a:r>
              <a:rPr lang="en-US" dirty="0"/>
              <a:t> that helps you automatically select the best model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your model multiple times with different hyperparameters (from a </a:t>
            </a:r>
            <a:r>
              <a:rPr lang="en-US" dirty="0" err="1"/>
              <a:t>ParamGrid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Splitting the training data into k folds (default k=3).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on k-1 folds and validating on the remaining 1 fold.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Repeating this for all folds.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Picking the best hyperparameter combination based on an Evaluator metric (e.g., accuracy, AUC).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822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5BBF-2C79-07ED-1883-BB6ABEC5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1918373" cy="833800"/>
          </a:xfrm>
        </p:spPr>
        <p:txBody>
          <a:bodyPr/>
          <a:lstStyle/>
          <a:p>
            <a:r>
              <a:rPr lang="en-IN" dirty="0"/>
              <a:t>Evaluator metric - 🔑 </a:t>
            </a:r>
            <a:r>
              <a:rPr lang="en-IN" dirty="0" err="1"/>
              <a:t>areaUnderROC</a:t>
            </a:r>
            <a:r>
              <a:rPr lang="en-IN" dirty="0"/>
              <a:t> (AUC-ROC)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BE60-18D5-14AB-58E5-FE829524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🔑 </a:t>
            </a:r>
            <a:r>
              <a:rPr lang="en-US" dirty="0" err="1"/>
              <a:t>areaUnderROC</a:t>
            </a:r>
            <a:r>
              <a:rPr lang="en-US" dirty="0"/>
              <a:t> (AUC-ROC)</a:t>
            </a:r>
          </a:p>
          <a:p>
            <a:endParaRPr lang="en-US" dirty="0"/>
          </a:p>
          <a:p>
            <a:r>
              <a:rPr lang="en-US" dirty="0" err="1"/>
              <a:t>areaUnderROC</a:t>
            </a:r>
            <a:r>
              <a:rPr lang="en-US" dirty="0"/>
              <a:t> = Area Under the Receiver Operating Characteristic Curve</a:t>
            </a:r>
          </a:p>
          <a:p>
            <a:endParaRPr lang="en-US" dirty="0"/>
          </a:p>
          <a:p>
            <a:r>
              <a:rPr lang="en-US" dirty="0"/>
              <a:t>It measures how well a binary classifier (0/1 prediction) can separate the two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170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BF7D1B-E5B3-B12A-D7BA-0156AC6357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809497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0171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AUC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726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Perfect 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19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 – 1.0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5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0.8 – 0.9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21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0.7 – 0.8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39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guessing (no predictive power)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42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&lt; 0.5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Worse than random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851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33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62CF-1DD8-E6AE-84BA-82F58AD9F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517164"/>
            <a:ext cx="10515600" cy="582367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ROC Curve (Receiver Operating Characteristic)</a:t>
            </a:r>
          </a:p>
          <a:p>
            <a:r>
              <a:rPr lang="en-US" dirty="0"/>
              <a:t>The </a:t>
            </a:r>
            <a:r>
              <a:rPr lang="en-US" b="1" dirty="0"/>
              <a:t>ROC Curve</a:t>
            </a:r>
            <a:r>
              <a:rPr lang="en-US" dirty="0"/>
              <a:t> is a graphical tool used to evaluate the performance of a </a:t>
            </a:r>
            <a:r>
              <a:rPr lang="en-US" b="1" dirty="0"/>
              <a:t>binary classifier</a:t>
            </a:r>
            <a:r>
              <a:rPr lang="en-US" dirty="0"/>
              <a:t> (predicting 0/1).</a:t>
            </a:r>
          </a:p>
          <a:p>
            <a:endParaRPr lang="en-IN" dirty="0"/>
          </a:p>
          <a:p>
            <a:r>
              <a:rPr lang="en-IN" b="1" dirty="0"/>
              <a:t>📌 ROC Curve Interpretation</a:t>
            </a:r>
          </a:p>
          <a:p>
            <a:r>
              <a:rPr lang="en-IN" b="1" dirty="0"/>
              <a:t>Perfect Model</a:t>
            </a:r>
            <a:r>
              <a:rPr lang="en-IN" dirty="0"/>
              <a:t> → Curve goes </a:t>
            </a:r>
            <a:r>
              <a:rPr lang="en-IN" b="1" dirty="0"/>
              <a:t>up and left</a:t>
            </a:r>
            <a:r>
              <a:rPr lang="en-IN" dirty="0"/>
              <a:t> (TPR=1, FPR=0).</a:t>
            </a:r>
          </a:p>
          <a:p>
            <a:r>
              <a:rPr lang="en-IN" b="1" dirty="0"/>
              <a:t>Random Model</a:t>
            </a:r>
            <a:r>
              <a:rPr lang="en-IN" dirty="0"/>
              <a:t> → Diagonal line (AUC = 0.5).</a:t>
            </a:r>
          </a:p>
          <a:p>
            <a:r>
              <a:rPr lang="en-IN" b="1" dirty="0"/>
              <a:t>Better Models</a:t>
            </a:r>
            <a:r>
              <a:rPr lang="en-IN" dirty="0"/>
              <a:t> → ROC curve bows toward the top-left corner.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📌 AUC (Area Under ROC Curve)</a:t>
            </a:r>
          </a:p>
          <a:p>
            <a:r>
              <a:rPr lang="en-IN" b="1" dirty="0"/>
              <a:t>AUC = 1.0</a:t>
            </a:r>
            <a:r>
              <a:rPr lang="en-IN" dirty="0"/>
              <a:t> → Perfect classifier</a:t>
            </a:r>
          </a:p>
          <a:p>
            <a:r>
              <a:rPr lang="en-IN" b="1" dirty="0"/>
              <a:t>AUC = 0.5</a:t>
            </a:r>
            <a:r>
              <a:rPr lang="en-IN" dirty="0"/>
              <a:t> → No discrimination (random guessing)</a:t>
            </a:r>
          </a:p>
          <a:p>
            <a:r>
              <a:rPr lang="en-IN" b="1" dirty="0"/>
              <a:t>AUC &lt; 0.5</a:t>
            </a:r>
            <a:r>
              <a:rPr lang="en-IN" dirty="0"/>
              <a:t> → Model is predicting opposite (worse than random)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865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EE45-4C9D-9894-C17A-FBF470AE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573" y="18256"/>
            <a:ext cx="10515600" cy="50129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ParamGrid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58C2F-1165-B322-C1FC-2330A5AF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5" y="1160606"/>
            <a:ext cx="118491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PySpark </a:t>
            </a:r>
            <a:r>
              <a:rPr lang="en-US" dirty="0" err="1"/>
              <a:t>MLlib</a:t>
            </a:r>
            <a:r>
              <a:rPr lang="en-US" dirty="0"/>
              <a:t>, a Parameter Grid (</a:t>
            </a:r>
            <a:r>
              <a:rPr lang="en-US" dirty="0" err="1"/>
              <a:t>ParamGrid</a:t>
            </a:r>
            <a:r>
              <a:rPr lang="en-US" dirty="0"/>
              <a:t>) is a way to define different sets of hyperparameters that you want the model to try during training, especially when you are doing Cross Validation (CV) or Train-Validation Split.</a:t>
            </a:r>
          </a:p>
          <a:p>
            <a:endParaRPr lang="en-US" dirty="0"/>
          </a:p>
          <a:p>
            <a:r>
              <a:rPr lang="en-US" dirty="0"/>
              <a:t>Machine learning models (like Logistic Regression, Random Forest, Gradient Boosted Trees, etc.) have </a:t>
            </a:r>
            <a:r>
              <a:rPr lang="en-US" b="1" dirty="0"/>
              <a:t>hyperparameters</a:t>
            </a:r>
            <a:r>
              <a:rPr lang="en-US" dirty="0"/>
              <a:t> (e.g., learning rate, max depth, regularization strength).</a:t>
            </a:r>
          </a:p>
          <a:p>
            <a:r>
              <a:rPr lang="en-US" dirty="0"/>
              <a:t>These are </a:t>
            </a:r>
            <a:r>
              <a:rPr lang="en-US" b="1" dirty="0"/>
              <a:t>not learned from the data</a:t>
            </a:r>
            <a:endParaRPr lang="en-US" dirty="0"/>
          </a:p>
          <a:p>
            <a:r>
              <a:rPr lang="en-US" dirty="0"/>
              <a:t>We need to </a:t>
            </a:r>
            <a:r>
              <a:rPr lang="en-US" b="1" dirty="0"/>
              <a:t>choose them manually or tune them automatically</a:t>
            </a:r>
            <a:endParaRPr lang="en-US" dirty="0"/>
          </a:p>
          <a:p>
            <a:r>
              <a:rPr lang="en-US" dirty="0"/>
              <a:t>Instead of testing hyperparameters one by one, we create a </a:t>
            </a:r>
            <a:r>
              <a:rPr lang="en-US" b="1" dirty="0"/>
              <a:t>grid of combinations</a:t>
            </a:r>
            <a:r>
              <a:rPr lang="en-US" dirty="0"/>
              <a:t> and let Spark try them all (with cross-validation).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724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ADA7-EEAE-2851-7A99-C30982E9B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891" y="0"/>
            <a:ext cx="10515600" cy="809048"/>
          </a:xfrm>
        </p:spPr>
        <p:txBody>
          <a:bodyPr/>
          <a:lstStyle/>
          <a:p>
            <a:r>
              <a:rPr lang="en-IN" dirty="0" err="1"/>
              <a:t>regParam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4A56-7259-7311-4534-FE65313C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7" y="973570"/>
            <a:ext cx="10515600" cy="58844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In PySpark </a:t>
            </a:r>
            <a:r>
              <a:rPr lang="en-IN" dirty="0" err="1"/>
              <a:t>MLlib</a:t>
            </a:r>
            <a:r>
              <a:rPr lang="en-IN" dirty="0"/>
              <a:t> Logistic Regression (and other linear models like </a:t>
            </a:r>
            <a:r>
              <a:rPr lang="en-IN" dirty="0" err="1"/>
              <a:t>LinearRegression</a:t>
            </a:r>
            <a:r>
              <a:rPr lang="en-IN" dirty="0"/>
              <a:t>),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🔑 </a:t>
            </a:r>
            <a:r>
              <a:rPr lang="en-IN" dirty="0" err="1"/>
              <a:t>regParam</a:t>
            </a:r>
            <a:r>
              <a:rPr lang="en-IN" dirty="0"/>
              <a:t> = Regularization Parameter (</a:t>
            </a:r>
            <a:r>
              <a:rPr lang="el-GR" dirty="0"/>
              <a:t>λ)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n-IN" dirty="0"/>
              <a:t>It controls how much penalty is added to the model weights to avoid overfitting.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⚡ Why Regularization?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Without regularization → model may fit noise in training data, leading to poor generalization.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With regularization → model keeps weights smaller (simpler model), improving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725420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3677-90F4-FF47-5338-25824D53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027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regParam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8665-23B2-53AF-D127-3D02A26A8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0515600" cy="54488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How it works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Higher </a:t>
            </a:r>
            <a:r>
              <a:rPr lang="en-IN" dirty="0" err="1"/>
              <a:t>regParam</a:t>
            </a:r>
            <a:r>
              <a:rPr lang="en-IN" dirty="0"/>
              <a:t> → stronger penalty on large coefficients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Lower </a:t>
            </a:r>
            <a:r>
              <a:rPr lang="en-IN" dirty="0" err="1"/>
              <a:t>regParam</a:t>
            </a:r>
            <a:r>
              <a:rPr lang="en-IN" dirty="0"/>
              <a:t> → weaker penalty, model fits more freely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⚖️ Effect of </a:t>
            </a:r>
            <a:r>
              <a:rPr lang="en-IN" dirty="0" err="1"/>
              <a:t>regParam</a:t>
            </a:r>
            <a:r>
              <a:rPr lang="en-IN" dirty="0"/>
              <a:t> values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regParam</a:t>
            </a:r>
            <a:r>
              <a:rPr lang="en-IN" dirty="0"/>
              <a:t> = 0.0 → No regularization (pure logistic regression, might overfit).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Small </a:t>
            </a:r>
            <a:r>
              <a:rPr lang="en-IN" dirty="0" err="1"/>
              <a:t>regParam</a:t>
            </a:r>
            <a:r>
              <a:rPr lang="en-IN" dirty="0"/>
              <a:t> (0.01, 0.1) → Mild penalty, usually good balance.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Large </a:t>
            </a:r>
            <a:r>
              <a:rPr lang="en-IN" dirty="0" err="1"/>
              <a:t>regParam</a:t>
            </a:r>
            <a:r>
              <a:rPr lang="en-IN" dirty="0"/>
              <a:t> (1.0, 10.0) → Strong penalty, coefficients shrink toward zero (model may underfit).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066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3258-1D90-D7F7-BF60-C2530523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191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ElasticNetParam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C34E-0A7E-3D34-DAA7-77491D561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3" y="963180"/>
            <a:ext cx="11828318" cy="4351338"/>
          </a:xfrm>
        </p:spPr>
        <p:txBody>
          <a:bodyPr/>
          <a:lstStyle/>
          <a:p>
            <a:r>
              <a:rPr lang="en-US" dirty="0"/>
              <a:t>In PySpark </a:t>
            </a:r>
            <a:r>
              <a:rPr lang="en-US" dirty="0" err="1"/>
              <a:t>MLlib</a:t>
            </a:r>
            <a:r>
              <a:rPr lang="en-US" dirty="0"/>
              <a:t> (LogisticRegression, </a:t>
            </a:r>
            <a:r>
              <a:rPr lang="en-US" dirty="0" err="1"/>
              <a:t>LinearRegression</a:t>
            </a:r>
            <a:r>
              <a:rPr lang="en-US" dirty="0"/>
              <a:t>, etc.),</a:t>
            </a:r>
          </a:p>
          <a:p>
            <a:endParaRPr lang="en-US" dirty="0"/>
          </a:p>
          <a:p>
            <a:r>
              <a:rPr lang="en-US" dirty="0"/>
              <a:t>🔑 </a:t>
            </a:r>
            <a:r>
              <a:rPr lang="en-US" dirty="0" err="1"/>
              <a:t>elasticNetParam</a:t>
            </a:r>
            <a:r>
              <a:rPr lang="en-US" dirty="0"/>
              <a:t> = Mix ratio between L1 and L2 regularization</a:t>
            </a:r>
          </a:p>
          <a:p>
            <a:endParaRPr lang="en-US" dirty="0"/>
          </a:p>
          <a:p>
            <a:r>
              <a:rPr lang="en-US" dirty="0"/>
              <a:t>It decides which type of regularization is applied when you use the </a:t>
            </a:r>
            <a:r>
              <a:rPr lang="en-US" dirty="0" err="1"/>
              <a:t>regParam</a:t>
            </a:r>
            <a:r>
              <a:rPr lang="en-US" dirty="0"/>
              <a:t> penalty.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046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D7C2-6E4C-C94F-535E-55F281B7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173" y="264137"/>
            <a:ext cx="10515600" cy="833800"/>
          </a:xfrm>
        </p:spPr>
        <p:txBody>
          <a:bodyPr>
            <a:normAutofit fontScale="90000"/>
          </a:bodyPr>
          <a:lstStyle/>
          <a:p>
            <a:r>
              <a:rPr lang="en-US" dirty="0"/>
              <a:t>📌 Types of Regularization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87104-B2A7-A2FC-9BD3-090770B2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936"/>
            <a:ext cx="10515600" cy="57600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L1 Regularization (Lasso)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Forces some coefficients exactly to zero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Good for feature selection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Controlled when </a:t>
            </a:r>
            <a:r>
              <a:rPr lang="en-US" dirty="0" err="1"/>
              <a:t>elasticNetParam</a:t>
            </a:r>
            <a:r>
              <a:rPr lang="en-US" dirty="0"/>
              <a:t> = 1.0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L2 Regularization (Ridge)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Shrinks coefficients smoothly toward zero, but never exactly zero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Good for preventing overfitting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Controlled when </a:t>
            </a:r>
            <a:r>
              <a:rPr lang="en-US" dirty="0" err="1"/>
              <a:t>elasticNetParam</a:t>
            </a:r>
            <a:r>
              <a:rPr lang="en-US" dirty="0"/>
              <a:t> = 0.0</a:t>
            </a:r>
          </a:p>
        </p:txBody>
      </p:sp>
    </p:spTree>
    <p:extLst>
      <p:ext uri="{BB962C8B-B14F-4D97-AF65-F5344CB8AC3E}">
        <p14:creationId xmlns:p14="http://schemas.microsoft.com/office/powerpoint/2010/main" val="4079465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4BDD-8B08-87BE-E3BC-A7A0205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973" y="18255"/>
            <a:ext cx="10515600" cy="1325563"/>
          </a:xfrm>
        </p:spPr>
        <p:txBody>
          <a:bodyPr/>
          <a:lstStyle/>
          <a:p>
            <a:r>
              <a:rPr lang="en-US" dirty="0"/>
              <a:t>📌 Types of Regularization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F276-7F01-7118-AC43-4C3DAF6BF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1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Elastic Net (Mix of L1 + L2)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Combines benefits of both Lasso and Ridge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when </a:t>
            </a:r>
            <a:r>
              <a:rPr lang="en-US" dirty="0" err="1"/>
              <a:t>elasticNetParam</a:t>
            </a:r>
            <a:r>
              <a:rPr lang="en-US" dirty="0"/>
              <a:t> is between 0 and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dirty="0" err="1"/>
              <a:t>elasticNetParam</a:t>
            </a:r>
            <a:r>
              <a:rPr lang="en-US" dirty="0"/>
              <a:t> = 0.5 → 50% L1 + 50% L2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42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F747-BF5D-B028-A66F-5CDBB5CE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718" y="18255"/>
            <a:ext cx="10515600" cy="1325563"/>
          </a:xfrm>
        </p:spPr>
        <p:txBody>
          <a:bodyPr/>
          <a:lstStyle/>
          <a:p>
            <a:r>
              <a:rPr lang="en-US" dirty="0"/>
              <a:t>📌 How it works with </a:t>
            </a:r>
            <a:r>
              <a:rPr lang="en-US" dirty="0" err="1"/>
              <a:t>regParam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F5585-59BF-D30D-2CB9-8012B99CA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regParam</a:t>
            </a:r>
            <a:r>
              <a:rPr lang="en-US" dirty="0"/>
              <a:t> = strength of penalty</a:t>
            </a:r>
          </a:p>
          <a:p>
            <a:endParaRPr lang="en-US" dirty="0"/>
          </a:p>
          <a:p>
            <a:r>
              <a:rPr lang="en-US" dirty="0" err="1"/>
              <a:t>elasticNetParam</a:t>
            </a:r>
            <a:r>
              <a:rPr lang="en-US" dirty="0"/>
              <a:t> = type of penalty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84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1485</Words>
  <Application>Microsoft Office PowerPoint</Application>
  <PresentationFormat>Widescreen</PresentationFormat>
  <Paragraphs>214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SPARK MLIB</vt:lpstr>
      <vt:lpstr>PowerPoint Presentation</vt:lpstr>
      <vt:lpstr>PowerPoint Presentation</vt:lpstr>
      <vt:lpstr>Key ML Components in Databricks</vt:lpstr>
      <vt:lpstr>PowerPoint Presentation</vt:lpstr>
      <vt:lpstr>Spark MLlib Components </vt:lpstr>
      <vt:lpstr>BUILD ML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Logistic Regression?</vt:lpstr>
      <vt:lpstr>PowerPoint Presentation</vt:lpstr>
      <vt:lpstr>create ,evaluate ,tune ml models using pyspark using student dataframe</vt:lpstr>
      <vt:lpstr>PowerPoint Presentation</vt:lpstr>
      <vt:lpstr>BinaryClassificationEvaluator </vt:lpstr>
      <vt:lpstr>CrossValidator </vt:lpstr>
      <vt:lpstr>Evaluator metric - 🔑 areaUnderROC (AUC-ROC)</vt:lpstr>
      <vt:lpstr>PowerPoint Presentation</vt:lpstr>
      <vt:lpstr>PowerPoint Presentation</vt:lpstr>
      <vt:lpstr>ParamGrid</vt:lpstr>
      <vt:lpstr>regParam</vt:lpstr>
      <vt:lpstr>regParam</vt:lpstr>
      <vt:lpstr>ElasticNetParam</vt:lpstr>
      <vt:lpstr>📌 Types of Regularization </vt:lpstr>
      <vt:lpstr>📌 Types of Regularization </vt:lpstr>
      <vt:lpstr>📌 How it works with regParam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11</cp:revision>
  <dcterms:created xsi:type="dcterms:W3CDTF">2025-08-16T17:41:03Z</dcterms:created>
  <dcterms:modified xsi:type="dcterms:W3CDTF">2025-08-19T03:41:34Z</dcterms:modified>
</cp:coreProperties>
</file>