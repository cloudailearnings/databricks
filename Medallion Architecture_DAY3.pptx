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57" r:id="rId5"/>
    <p:sldId id="273" r:id="rId6"/>
    <p:sldId id="259" r:id="rId7"/>
    <p:sldId id="260" r:id="rId8"/>
    <p:sldId id="261" r:id="rId9"/>
    <p:sldId id="274" r:id="rId10"/>
    <p:sldId id="262" r:id="rId11"/>
    <p:sldId id="263" r:id="rId12"/>
    <p:sldId id="264" r:id="rId13"/>
    <p:sldId id="270" r:id="rId14"/>
    <p:sldId id="265" r:id="rId15"/>
    <p:sldId id="266" r:id="rId16"/>
    <p:sldId id="267" r:id="rId17"/>
    <p:sldId id="268" r:id="rId18"/>
    <p:sldId id="269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F3B7-128F-C076-355C-8FB35A3DA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60042-D1D1-11F9-2BAC-55638D571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D2443-1F79-7119-0576-76A1F19A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11571-032E-A66E-988C-458AFA84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9A1BB-31B6-2E2D-5F0F-EED75504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9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1FD9-9467-7FC8-38F5-198936EA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2860-4A03-C3B2-EBBB-F6494E33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04715-23FF-DA88-594C-46323088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97C13-46BA-22F7-6588-2D2228AE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9F108-43BE-B337-7BF5-156CB9A9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85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8465-5A4D-B379-190E-0116A52A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29725-A654-3C04-3B11-26A082289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DA14A-66FF-16F3-2578-25515719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684C2-F9CE-DB3F-F3A9-15A32FBC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9EF-3EE0-3E33-B277-69C08809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47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C93C-455E-BBA2-F9F7-4EE8DDF5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5B7-6253-0065-DBCC-911C617F2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B64DD-0772-AFD7-98F6-3B77548CD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6A8D7-A74A-B3DA-6B91-CEC1DA7A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3E9EA-0DC6-3CD5-05C3-0817FEFD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951E7-FCC0-06F5-FCEF-9C837C00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40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4805-D37F-33C4-276F-9D81E941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FF3F3-D5A0-ACC6-EC9F-16DB0C03E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59FE7-980C-F434-EB93-033C9306C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8791E-089F-7913-E0C5-C20AA9AAB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EB97B-FB22-3431-E6B3-6B7A753BE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E1E01-C1DC-D976-3D1E-64E8EBD1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F4EAB-E273-E976-C3E4-5FF505C6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240AD-90B2-A8F6-ACAE-1E294529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8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9AFA-D425-6BDB-8EA5-E8A63B91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B37EC-8170-5AC5-C18B-BDF34FD2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7E16C-3390-C025-0EA6-C234F5A5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00D2F-F7AC-DE01-158B-3F79B1A6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5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68E7C-9F4C-B3D8-9A08-394238D5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9DEFE-E09A-85A2-8D35-73F3ED47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FDA4-ED7D-0404-E92C-216977C7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1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A1BF-6FC9-1441-C440-D61B6D14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49FE3-73D8-3CB8-1244-799656D2C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95E9D-0FBF-461A-D888-CB015FB8B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A0F26-68E7-BED4-4A41-4AC94D39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4B35F-0503-03BA-933B-743558A45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6FE8B-EB1F-E162-EFC9-5B67A2D3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07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1EFB-21CB-E853-E1FB-8D91D97C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CC3F5-6448-88FD-72B9-F0B5A6A99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63F08-BA46-7078-FAD7-8E7B8AFA8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7D323-255E-3C44-834F-17C856205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CFB8B-6D33-32A4-B836-76311F47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9698B-FB44-9C65-8838-983023CB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5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9843-A693-0C7E-D9F8-C67B214E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9B406-B278-16EB-6FEC-37A43CB93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7D9C-D181-3EAA-99A0-80CBB0D9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CB187-CADC-5248-B57F-DF501E02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1CCAB-22AE-EC45-A4CC-9B721D47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67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E7D12-9278-E17E-BB7C-B8390C35D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FE83D-F991-7DF4-B91B-0F442BF68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23FCB-FF7C-6B5F-46D7-3E11BBF1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086AC-9353-BA04-8F91-737CD941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5B2EE-8251-FC88-F003-F61063C1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25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CE4A8-8890-89C5-7A80-5476B3B9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8F93B-D5A4-354C-E0E3-891B3EE3E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F403-4BA7-4232-F885-EF633AFE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6283E-9E09-41D4-B275-8CCCDAFE1F5F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7DD30-BD07-2CB5-26A2-D34E6EBFA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ABAA5-552C-7746-06AE-3B3D84712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7292F-5C3D-420F-A97A-2969D6EDD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28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4A47-3840-10DE-5E00-7EAC2B9F8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Medallion Architecture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1259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21762-E0CA-57AD-41D6-8646BCD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3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F492-0127-3F12-E2AE-A862ECF0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109486"/>
            <a:ext cx="10515600" cy="1325563"/>
          </a:xfrm>
        </p:spPr>
        <p:txBody>
          <a:bodyPr/>
          <a:lstStyle/>
          <a:p>
            <a:r>
              <a:rPr lang="en-IN" b="1" dirty="0"/>
              <a:t>What Is Medallion Architecture?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C339-AD0F-41C2-3EC6-00A07468B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13" y="869560"/>
            <a:ext cx="11501284" cy="4351338"/>
          </a:xfrm>
        </p:spPr>
        <p:txBody>
          <a:bodyPr/>
          <a:lstStyle/>
          <a:p>
            <a:r>
              <a:rPr lang="en-US" b="1" dirty="0"/>
              <a:t>Medallion Architecture</a:t>
            </a:r>
            <a:r>
              <a:rPr lang="en-US" dirty="0"/>
              <a:t> is a layered data design paradigm commonly used in modern data platforms such as </a:t>
            </a:r>
            <a:r>
              <a:rPr lang="en-US" b="1" dirty="0"/>
              <a:t>Databricks</a:t>
            </a:r>
            <a:r>
              <a:rPr lang="en-US" dirty="0"/>
              <a:t>, </a:t>
            </a:r>
            <a:r>
              <a:rPr lang="en-US" b="1" dirty="0"/>
              <a:t>Snowflake</a:t>
            </a:r>
            <a:r>
              <a:rPr lang="en-US" dirty="0"/>
              <a:t>, and </a:t>
            </a:r>
            <a:r>
              <a:rPr lang="en-US" b="1" dirty="0"/>
              <a:t>Azure Synapse</a:t>
            </a:r>
            <a:r>
              <a:rPr lang="en-US" dirty="0"/>
              <a:t>. It organizes data across </a:t>
            </a:r>
            <a:r>
              <a:rPr lang="en-US" b="1" dirty="0"/>
              <a:t>three progressive layers - Bronze, Silver and Gold</a:t>
            </a:r>
            <a:r>
              <a:rPr lang="en-US" dirty="0"/>
              <a:t> - each representing a step forward in data quality, usability and business relevance.</a:t>
            </a:r>
          </a:p>
          <a:p>
            <a:r>
              <a:rPr lang="en-US" dirty="0"/>
              <a:t>This structured approach not only supports </a:t>
            </a:r>
            <a:r>
              <a:rPr lang="en-US" b="1" dirty="0"/>
              <a:t>modular development</a:t>
            </a:r>
            <a:r>
              <a:rPr lang="en-US" dirty="0"/>
              <a:t> but also ensures </a:t>
            </a:r>
            <a:r>
              <a:rPr lang="en-US" b="1" dirty="0"/>
              <a:t>auditability, reusability and scalability</a:t>
            </a:r>
            <a:r>
              <a:rPr lang="en-US" dirty="0"/>
              <a:t> across analytical workloads.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997E2-7726-5B37-F5A2-276B2F55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03" y="4321112"/>
            <a:ext cx="10117393" cy="220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2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2C3B-49E0-84B8-9CE7-FCB178CF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77368" cy="4351338"/>
          </a:xfrm>
        </p:spPr>
        <p:txBody>
          <a:bodyPr/>
          <a:lstStyle/>
          <a:p>
            <a:r>
              <a:rPr lang="en-US" dirty="0"/>
              <a:t>✨️Medallion architecture, a data design pattern, strategically organizes data into distinct layers (Bronze, Silver, and Gold) to enhance its quality and structure incrementally within a data pipeline. This method is widely adopted in constructing a </a:t>
            </a:r>
            <a:r>
              <a:rPr lang="en-US" dirty="0" err="1"/>
              <a:t>lakehouse</a:t>
            </a:r>
            <a:r>
              <a:rPr lang="en-US" dirty="0"/>
              <a:t> architecture, combining the storage benefits of a data lake with the management functionalities akin to a data warehouse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04723-0D4D-2608-8CA3-CF173896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2310121"/>
            <a:ext cx="11523407" cy="42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1C87143-411E-3746-73D6-532615E3C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8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8E26-4A87-2B37-30AB-1BF520DC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451" y="18255"/>
            <a:ext cx="10515600" cy="1325563"/>
          </a:xfrm>
        </p:spPr>
        <p:txBody>
          <a:bodyPr/>
          <a:lstStyle/>
          <a:p>
            <a:r>
              <a:rPr lang="en-US" b="1" dirty="0"/>
              <a:t>Bronze Layer – Raw Data Ingestion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9C91-4B41-1B88-E54A-4F75671F5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9" y="1343817"/>
            <a:ext cx="12101051" cy="5495927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dirty="0"/>
              <a:t>The </a:t>
            </a:r>
            <a:r>
              <a:rPr lang="en-US" b="1" dirty="0"/>
              <a:t>Bronze Layer</a:t>
            </a:r>
            <a:r>
              <a:rPr lang="en-US" dirty="0"/>
              <a:t> is the foundation of the Medallion Architecture. It focuses on capturing raw, unaltered data from diverse sources including:</a:t>
            </a:r>
          </a:p>
          <a:p>
            <a:pPr fontAlgn="base"/>
            <a:r>
              <a:rPr lang="en-US" b="1" dirty="0"/>
              <a:t>Operational systems</a:t>
            </a:r>
            <a:r>
              <a:rPr lang="en-US" dirty="0"/>
              <a:t> (CRM, ERP, LOB apps)</a:t>
            </a:r>
          </a:p>
          <a:p>
            <a:pPr fontAlgn="base"/>
            <a:r>
              <a:rPr lang="en-US" b="1" dirty="0"/>
              <a:t>Streaming services</a:t>
            </a:r>
            <a:r>
              <a:rPr lang="en-US" dirty="0"/>
              <a:t> (Kafka, IoT feeds)</a:t>
            </a:r>
          </a:p>
          <a:p>
            <a:pPr fontAlgn="base"/>
            <a:r>
              <a:rPr lang="en-US" b="1" dirty="0"/>
              <a:t>Batch files</a:t>
            </a:r>
            <a:r>
              <a:rPr lang="en-US" dirty="0"/>
              <a:t> (CSV, JSON, XML)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Raw Ingestion Stores unfiltered data from various sources like APIs, logs, IoT streams, or files. It acts as the single source of truth, retaining full fidelity.</a:t>
            </a:r>
          </a:p>
          <a:p>
            <a:pPr fontAlgn="base"/>
            <a:r>
              <a:rPr lang="en-US" b="1" dirty="0"/>
              <a:t>Databricks</a:t>
            </a:r>
            <a:r>
              <a:rPr lang="en-US" dirty="0"/>
              <a:t>: Stored as Delta Lake tables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/>
              <a:t>Key Characteristics:</a:t>
            </a:r>
          </a:p>
          <a:p>
            <a:pPr fontAlgn="base"/>
            <a:r>
              <a:rPr lang="en-US" dirty="0"/>
              <a:t>Stores data </a:t>
            </a:r>
            <a:r>
              <a:rPr lang="en-US" b="1" dirty="0"/>
              <a:t>as-is</a:t>
            </a:r>
            <a:r>
              <a:rPr lang="en-US" dirty="0"/>
              <a:t> without transformations.</a:t>
            </a:r>
          </a:p>
          <a:p>
            <a:pPr fontAlgn="base"/>
            <a:r>
              <a:rPr lang="en-US" dirty="0"/>
              <a:t>Designed for </a:t>
            </a:r>
            <a:r>
              <a:rPr lang="en-US" b="1" dirty="0"/>
              <a:t>traceability</a:t>
            </a:r>
            <a:r>
              <a:rPr lang="en-US" dirty="0"/>
              <a:t>, </a:t>
            </a:r>
            <a:r>
              <a:rPr lang="en-US" b="1" dirty="0"/>
              <a:t>auditing</a:t>
            </a:r>
            <a:r>
              <a:rPr lang="en-US" dirty="0"/>
              <a:t> and </a:t>
            </a:r>
            <a:r>
              <a:rPr lang="en-US" b="1" dirty="0"/>
              <a:t>historical replay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Often includes full snapshots with </a:t>
            </a:r>
            <a:r>
              <a:rPr lang="en-US" b="1" dirty="0"/>
              <a:t>truncate-and-insert</a:t>
            </a:r>
            <a:r>
              <a:rPr lang="en-US" dirty="0"/>
              <a:t> or </a:t>
            </a:r>
            <a:r>
              <a:rPr lang="en-US" b="1" dirty="0"/>
              <a:t>append-only</a:t>
            </a:r>
            <a:r>
              <a:rPr lang="en-US" dirty="0"/>
              <a:t> mechanisms.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/>
              <a:t>Why It Matters:</a:t>
            </a:r>
          </a:p>
          <a:p>
            <a:pPr fontAlgn="base"/>
            <a:r>
              <a:rPr lang="en-US" dirty="0"/>
              <a:t>This layer ensures that </a:t>
            </a:r>
            <a:r>
              <a:rPr lang="en-US" b="1" dirty="0"/>
              <a:t>no information is lost</a:t>
            </a:r>
            <a:r>
              <a:rPr lang="en-US" dirty="0"/>
              <a:t> and provides a </a:t>
            </a:r>
            <a:r>
              <a:rPr lang="en-US" b="1" dirty="0"/>
              <a:t>single source of truth</a:t>
            </a:r>
            <a:r>
              <a:rPr lang="en-US" dirty="0"/>
              <a:t> in its rawest form - essential for compliance, root-cause analysis, and debugging.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64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5A8B-4CA1-B7A2-44BC-EA08DDEB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645" y="18255"/>
            <a:ext cx="10515600" cy="1325563"/>
          </a:xfrm>
        </p:spPr>
        <p:txBody>
          <a:bodyPr/>
          <a:lstStyle/>
          <a:p>
            <a:r>
              <a:rPr lang="en-US" b="1" dirty="0"/>
              <a:t>Silver Layer – Cleansed and Standardized Data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A9F1-FE8E-6BE9-110B-FF82754CA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1253330"/>
            <a:ext cx="11294806" cy="56046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layer is all about </a:t>
            </a:r>
            <a:r>
              <a:rPr lang="en-US" b="1" dirty="0"/>
              <a:t>data refinement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Clean &amp; Modeled Data is cleaned, deduplicated, joined, and structured to reflect business logic. It’s the query-ready, analytics-friendly version.</a:t>
            </a:r>
          </a:p>
          <a:p>
            <a:endParaRPr lang="en-US" dirty="0"/>
          </a:p>
          <a:p>
            <a:pPr marL="0" indent="0" fontAlgn="base">
              <a:buNone/>
            </a:pPr>
            <a:r>
              <a:rPr lang="en-IN" b="1" dirty="0"/>
              <a:t>Operations Typically Performed:</a:t>
            </a:r>
          </a:p>
          <a:p>
            <a:pPr fontAlgn="base"/>
            <a:r>
              <a:rPr lang="en-IN" b="1" dirty="0"/>
              <a:t>Data Cleaning</a:t>
            </a:r>
            <a:r>
              <a:rPr lang="en-IN" dirty="0"/>
              <a:t> (remove duplicates, handle nulls)</a:t>
            </a:r>
          </a:p>
          <a:p>
            <a:pPr fontAlgn="base"/>
            <a:r>
              <a:rPr lang="en-IN" b="1" dirty="0"/>
              <a:t>Standardization</a:t>
            </a:r>
            <a:r>
              <a:rPr lang="en-IN" dirty="0"/>
              <a:t> (unify formats and naming conventions)</a:t>
            </a:r>
          </a:p>
          <a:p>
            <a:pPr fontAlgn="base"/>
            <a:r>
              <a:rPr lang="en-IN" b="1" dirty="0"/>
              <a:t>Normalization</a:t>
            </a:r>
            <a:r>
              <a:rPr lang="en-IN" dirty="0"/>
              <a:t> (reshape data for consistency)</a:t>
            </a:r>
          </a:p>
          <a:p>
            <a:pPr fontAlgn="base"/>
            <a:r>
              <a:rPr lang="en-IN" b="1" dirty="0"/>
              <a:t>Deriving New Columns</a:t>
            </a:r>
            <a:r>
              <a:rPr lang="en-IN" dirty="0"/>
              <a:t> (e.g., time buckets, categorization)</a:t>
            </a:r>
          </a:p>
          <a:p>
            <a:pPr fontAlgn="base"/>
            <a:r>
              <a:rPr lang="en-IN" b="1" dirty="0"/>
              <a:t>Data Enrichment</a:t>
            </a:r>
            <a:r>
              <a:rPr lang="en-IN" dirty="0"/>
              <a:t> (adding reference data or external attributes)</a:t>
            </a:r>
          </a:p>
          <a:p>
            <a:pPr fontAlgn="base"/>
            <a:r>
              <a:rPr lang="en-IN" b="1" dirty="0"/>
              <a:t>Light Business Logic</a:t>
            </a:r>
            <a:r>
              <a:rPr lang="en-IN" dirty="0"/>
              <a:t> (validations and filters)</a:t>
            </a:r>
          </a:p>
          <a:p>
            <a:pPr marL="0" indent="0" fontAlgn="base">
              <a:buNone/>
            </a:pPr>
            <a:endParaRPr lang="en-IN" dirty="0"/>
          </a:p>
          <a:p>
            <a:pPr marL="0" indent="0" fontAlgn="base">
              <a:buNone/>
            </a:pPr>
            <a:r>
              <a:rPr lang="en-US" b="1" dirty="0"/>
              <a:t>Databricks</a:t>
            </a:r>
            <a:r>
              <a:rPr lang="en-US" dirty="0"/>
              <a:t>: Refined using notebooks, Delta Live Tables</a:t>
            </a:r>
          </a:p>
          <a:p>
            <a:pPr fontAlgn="base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61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E567-D3A4-C63A-DEE5-0915B838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342" y="0"/>
            <a:ext cx="10515600" cy="1325563"/>
          </a:xfrm>
        </p:spPr>
        <p:txBody>
          <a:bodyPr/>
          <a:lstStyle/>
          <a:p>
            <a:r>
              <a:rPr lang="en-US" b="1" dirty="0"/>
              <a:t>Silver Layer – Cleansed and Standardized Data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D3E9-4F53-B58F-1273-D47B99F90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4" y="1325563"/>
            <a:ext cx="11806084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Primary Objective:</a:t>
            </a:r>
          </a:p>
          <a:p>
            <a:r>
              <a:rPr lang="en-US" dirty="0"/>
              <a:t>Prepare the data for analysis in a clean, consistent, and reliable format - allowing </a:t>
            </a:r>
            <a:r>
              <a:rPr lang="en-US" b="1" dirty="0"/>
              <a:t>data analysts and engineers</a:t>
            </a:r>
            <a:r>
              <a:rPr lang="en-US" dirty="0"/>
              <a:t> to work with trusted data without diving into the raw source complexity.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926E4-A968-8A3A-5283-A9A7C94A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29" y="3322869"/>
            <a:ext cx="10304207" cy="210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1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39C556-7E58-B255-A15D-4299A1A8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26"/>
            <a:ext cx="12191999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0ED3-E164-4CF9-00A7-4AA2F34F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158648"/>
            <a:ext cx="11275142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Gold Layer – Business-Level Aggregations and Insights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AA36-B2EA-DFE7-1411-86AFDFFCB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71" y="1373341"/>
            <a:ext cx="11813458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Gold Layer</a:t>
            </a:r>
            <a:r>
              <a:rPr lang="en-US" dirty="0"/>
              <a:t> is the most refined level of the Medallion Architecture. It contains </a:t>
            </a:r>
            <a:r>
              <a:rPr lang="en-US" b="1" dirty="0"/>
              <a:t>business-curated data</a:t>
            </a:r>
            <a:r>
              <a:rPr lang="en-US" dirty="0"/>
              <a:t> that is purpose-built for </a:t>
            </a:r>
            <a:r>
              <a:rPr lang="en-US" b="1" dirty="0"/>
              <a:t>analytics, reporting, and decision-making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 fontAlgn="base">
              <a:buNone/>
            </a:pPr>
            <a:r>
              <a:rPr lang="en-US" b="1" dirty="0"/>
              <a:t>Operations in the Gold Layer:</a:t>
            </a:r>
          </a:p>
          <a:p>
            <a:pPr fontAlgn="base"/>
            <a:r>
              <a:rPr lang="en-US" b="1" dirty="0"/>
              <a:t>Data Integration</a:t>
            </a:r>
            <a:r>
              <a:rPr lang="en-US" dirty="0"/>
              <a:t> (merge data across domains)</a:t>
            </a:r>
          </a:p>
          <a:p>
            <a:pPr fontAlgn="base"/>
            <a:r>
              <a:rPr lang="en-US" b="1" dirty="0"/>
              <a:t>Aggregations</a:t>
            </a:r>
            <a:r>
              <a:rPr lang="en-US" dirty="0"/>
              <a:t> (summarizations by time, region, customer, etc.)</a:t>
            </a:r>
          </a:p>
          <a:p>
            <a:pPr fontAlgn="base"/>
            <a:r>
              <a:rPr lang="en-US" b="1" dirty="0"/>
              <a:t>Complex Business Logic</a:t>
            </a:r>
            <a:r>
              <a:rPr lang="en-US" dirty="0"/>
              <a:t> (KPI calculations, rules-based transformations)</a:t>
            </a:r>
          </a:p>
          <a:p>
            <a:pPr fontAlgn="base"/>
            <a:r>
              <a:rPr lang="en-US" b="1" dirty="0"/>
              <a:t>Modeling</a:t>
            </a:r>
            <a:r>
              <a:rPr lang="en-US" dirty="0"/>
              <a:t> (star schemas, flat wide tables)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64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BC57-5A35-C95C-FFD0-1538A789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91" y="79991"/>
            <a:ext cx="11441799" cy="1227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Gold Layer – Business-Level Aggregations and Insights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9B796-4DC9-9B15-C6A9-568C099EE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00" y="811597"/>
            <a:ext cx="11441799" cy="5966412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Business-Ready Insights This is the layer where decisions are made. Aggregated and curated data powers dashboards, machine learning models, and executive reports.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Used For:</a:t>
            </a:r>
          </a:p>
          <a:p>
            <a:pPr fontAlgn="base"/>
            <a:r>
              <a:rPr lang="en-US" dirty="0"/>
              <a:t>Executive dashboards and BI tools</a:t>
            </a:r>
          </a:p>
          <a:p>
            <a:pPr fontAlgn="base"/>
            <a:r>
              <a:rPr lang="en-US" dirty="0"/>
              <a:t>KPI tracking and operational reports</a:t>
            </a:r>
          </a:p>
          <a:p>
            <a:pPr fontAlgn="base"/>
            <a:r>
              <a:rPr lang="en-US" dirty="0"/>
              <a:t>Self-service analytics for business users</a:t>
            </a:r>
          </a:p>
          <a:p>
            <a:pPr fontAlgn="base"/>
            <a:r>
              <a:rPr lang="en-US" dirty="0"/>
              <a:t>Machine learning feature stores (in some cases)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/>
              <a:t>Databricks</a:t>
            </a:r>
            <a:r>
              <a:rPr lang="en-US" dirty="0"/>
              <a:t>: Feeds ML workflows, Power BI, etc.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4AB2F-6531-C3B2-CC55-4ADCE353C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146" y="2172929"/>
            <a:ext cx="9181854" cy="105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32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FB27-FBCC-4C1A-39C9-46AC05C2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 Summary of the Medallion Layers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5572-6D6F-20EA-2BD7-C3A2334DF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endParaRPr lang="en-US" dirty="0"/>
          </a:p>
          <a:p>
            <a:pPr fontAlgn="base"/>
            <a:r>
              <a:rPr lang="en-US" b="1" dirty="0"/>
              <a:t>Bronze Layer</a:t>
            </a:r>
            <a:r>
              <a:rPr lang="en-US" dirty="0"/>
              <a:t> – Raw ingestion from multiple sources</a:t>
            </a:r>
          </a:p>
          <a:p>
            <a:pPr fontAlgn="base"/>
            <a:r>
              <a:rPr lang="en-US" b="1" dirty="0"/>
              <a:t>Silver Layer</a:t>
            </a:r>
            <a:r>
              <a:rPr lang="en-US" dirty="0"/>
              <a:t> – Cleansed and validated data</a:t>
            </a:r>
          </a:p>
          <a:p>
            <a:pPr fontAlgn="base"/>
            <a:r>
              <a:rPr lang="en-US" b="1" dirty="0"/>
              <a:t>Gold Layer</a:t>
            </a:r>
            <a:r>
              <a:rPr lang="en-US" dirty="0"/>
              <a:t> – Aggregated, curated data for business use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With each layer, </a:t>
            </a:r>
            <a:r>
              <a:rPr lang="en-US" b="1" dirty="0"/>
              <a:t>data quality, usability, and trust increase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60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88BD-D468-A3A4-5B18-AD19BF5B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065" y="18255"/>
            <a:ext cx="10515600" cy="1325563"/>
          </a:xfrm>
        </p:spPr>
        <p:txBody>
          <a:bodyPr/>
          <a:lstStyle/>
          <a:p>
            <a:r>
              <a:rPr lang="en-IN" dirty="0"/>
              <a:t>🔥 Tech stack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30997-AE24-7926-322F-F5AA033EA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r>
              <a:rPr lang="en-IN" dirty="0"/>
              <a:t>⫸ Bronze Layer (Raw): Azure Data Lake Storage, Amazon S3, Delta Lake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⫸ Silver Layer (Cleaned &amp; Structured): Apache Spark, </a:t>
            </a:r>
            <a:r>
              <a:rPr lang="en-IN" dirty="0" err="1"/>
              <a:t>dbt</a:t>
            </a:r>
            <a:r>
              <a:rPr lang="en-IN" dirty="0"/>
              <a:t>, Azure Data Factory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⫸ Gold Layer (Business-Ready): Power BI, Tableau, Looker, Databricks SQL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84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2259-8A6F-43F6-9313-7D098232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645" y="18255"/>
            <a:ext cx="10515600" cy="1325563"/>
          </a:xfrm>
        </p:spPr>
        <p:txBody>
          <a:bodyPr/>
          <a:lstStyle/>
          <a:p>
            <a:r>
              <a:rPr lang="en-IN" b="1" dirty="0"/>
              <a:t>Comparison: Bronze vs Silver vs Gold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05BC6-D9AB-9D91-0B9F-ED0B4E50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" y="796413"/>
            <a:ext cx="11906865" cy="572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5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D354-93DF-6BC1-4795-EB47F150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155" y="2852686"/>
            <a:ext cx="10515600" cy="1325563"/>
          </a:xfrm>
        </p:spPr>
        <p:txBody>
          <a:bodyPr/>
          <a:lstStyle/>
          <a:p>
            <a:r>
              <a:rPr lang="en-IN" b="1" dirty="0"/>
              <a:t>Benefits of Medallion Architecture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697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1DBB-A455-A053-DED9-17531974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987" y="18255"/>
            <a:ext cx="10515600" cy="1325563"/>
          </a:xfrm>
        </p:spPr>
        <p:txBody>
          <a:bodyPr/>
          <a:lstStyle/>
          <a:p>
            <a:r>
              <a:rPr lang="en-IN" b="1" dirty="0"/>
              <a:t>Technical Benefits: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FC39F-F210-6B1B-C86D-9E135FC2E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Separation of Concerns</a:t>
            </a:r>
            <a:r>
              <a:rPr lang="en-US" dirty="0"/>
              <a:t>: Modular layers support easier debugging and development.</a:t>
            </a:r>
          </a:p>
          <a:p>
            <a:pPr fontAlgn="base"/>
            <a:r>
              <a:rPr lang="en-US" b="1" dirty="0"/>
              <a:t>Improved Data Lineage</a:t>
            </a:r>
            <a:r>
              <a:rPr lang="en-US" dirty="0"/>
              <a:t>: Trace any error or inconsistency back to the original source.</a:t>
            </a:r>
          </a:p>
          <a:p>
            <a:pPr fontAlgn="base"/>
            <a:r>
              <a:rPr lang="en-US" b="1" dirty="0"/>
              <a:t>Incremental and Streaming Support</a:t>
            </a:r>
            <a:r>
              <a:rPr lang="en-US" dirty="0"/>
              <a:t>: Suitable for batch, micro-batch, and streaming architectures.</a:t>
            </a:r>
          </a:p>
          <a:p>
            <a:pPr fontAlgn="base"/>
            <a:r>
              <a:rPr lang="en-US" b="1" dirty="0"/>
              <a:t>Reusability</a:t>
            </a:r>
            <a:r>
              <a:rPr lang="en-US" dirty="0"/>
              <a:t>: Layers can serve multiple downstream use cases without redundant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804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3A92-4590-2908-F987-9C5C63CA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813" y="18255"/>
            <a:ext cx="10515600" cy="1325563"/>
          </a:xfrm>
        </p:spPr>
        <p:txBody>
          <a:bodyPr/>
          <a:lstStyle/>
          <a:p>
            <a:r>
              <a:rPr lang="en-IN" b="1" dirty="0"/>
              <a:t>Business Benefits: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5C39-F80D-4694-5AB2-D50DF95C2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Data Trust</a:t>
            </a:r>
            <a:r>
              <a:rPr lang="en-US" dirty="0"/>
              <a:t>: Each layer adds validation and structure, increasing confidence in data quality.</a:t>
            </a:r>
          </a:p>
          <a:p>
            <a:pPr fontAlgn="base"/>
            <a:r>
              <a:rPr lang="en-US" b="1" dirty="0"/>
              <a:t>Faster Time-to-Insight</a:t>
            </a:r>
            <a:r>
              <a:rPr lang="en-US" dirty="0"/>
              <a:t>: Analysts get clean data faster without reprocessing.</a:t>
            </a:r>
          </a:p>
          <a:p>
            <a:pPr fontAlgn="base"/>
            <a:r>
              <a:rPr lang="en-US" b="1" dirty="0"/>
              <a:t>Governance &amp; Compliance</a:t>
            </a:r>
            <a:r>
              <a:rPr lang="en-US" dirty="0"/>
              <a:t>: Audit trails and raw data retention support compliance needs.</a:t>
            </a:r>
          </a:p>
          <a:p>
            <a:pPr fontAlgn="base"/>
            <a:r>
              <a:rPr lang="en-US" b="1" dirty="0"/>
              <a:t>Scalability</a:t>
            </a:r>
            <a:r>
              <a:rPr lang="en-US" dirty="0"/>
              <a:t>: Easily expand to accommodate new sources, domains, and workloads.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789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02D8-5072-730D-736B-CFEEBD3B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58647"/>
            <a:ext cx="10515600" cy="1325563"/>
          </a:xfrm>
        </p:spPr>
        <p:txBody>
          <a:bodyPr/>
          <a:lstStyle/>
          <a:p>
            <a:r>
              <a:rPr lang="en-US" b="1" dirty="0"/>
              <a:t>Where Is Medallion Architecture Used?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5AE25-A8F4-639F-644A-218CFA046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70" y="1484209"/>
            <a:ext cx="11619271" cy="5215143"/>
          </a:xfrm>
        </p:spPr>
        <p:txBody>
          <a:bodyPr>
            <a:normAutofit/>
          </a:bodyPr>
          <a:lstStyle/>
          <a:p>
            <a:pPr fontAlgn="base"/>
            <a:r>
              <a:rPr lang="en-IN" b="1" dirty="0"/>
              <a:t>Databricks Delta Lake</a:t>
            </a:r>
            <a:r>
              <a:rPr lang="en-IN" dirty="0"/>
              <a:t> – native support for layered Delta tables</a:t>
            </a:r>
          </a:p>
          <a:p>
            <a:pPr fontAlgn="base"/>
            <a:r>
              <a:rPr lang="en-IN" b="1" dirty="0"/>
              <a:t>Azure Synapse Analytics</a:t>
            </a:r>
            <a:r>
              <a:rPr lang="en-IN" dirty="0"/>
              <a:t> – supports </a:t>
            </a:r>
            <a:r>
              <a:rPr lang="en-IN" dirty="0" err="1"/>
              <a:t>lakehouse</a:t>
            </a:r>
            <a:r>
              <a:rPr lang="en-IN" dirty="0"/>
              <a:t> patterns with SQL and Spark</a:t>
            </a:r>
          </a:p>
          <a:p>
            <a:pPr fontAlgn="base"/>
            <a:r>
              <a:rPr lang="en-IN" b="1" dirty="0"/>
              <a:t>Snowflake</a:t>
            </a:r>
            <a:r>
              <a:rPr lang="en-IN" dirty="0"/>
              <a:t> – layering via virtual warehouses and data marts</a:t>
            </a:r>
          </a:p>
          <a:p>
            <a:pPr fontAlgn="base"/>
            <a:r>
              <a:rPr lang="en-IN" b="1" dirty="0"/>
              <a:t>Apache Iceberg / Hudi</a:t>
            </a:r>
            <a:r>
              <a:rPr lang="en-IN" dirty="0"/>
              <a:t> – evolving support for medallion-like modularization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Industries such as finance, healthcare, retail, and logistics use Medallion Architecture to power their </a:t>
            </a:r>
            <a:r>
              <a:rPr lang="en-US" b="1" dirty="0"/>
              <a:t>real-time dashboards, regulatory reporting, machine learning models</a:t>
            </a:r>
            <a:r>
              <a:rPr lang="en-US" dirty="0"/>
              <a:t>, and more.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583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414E4-8968-97DA-357A-6C98FAF80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233" y="1848465"/>
            <a:ext cx="10515600" cy="6336890"/>
          </a:xfrm>
        </p:spPr>
        <p:txBody>
          <a:bodyPr/>
          <a:lstStyle/>
          <a:p>
            <a:r>
              <a:rPr lang="en-US" dirty="0"/>
              <a:t>💼 Why it matters:</a:t>
            </a:r>
            <a:br>
              <a:rPr lang="en-US" dirty="0"/>
            </a:br>
            <a:r>
              <a:rPr lang="en-US" dirty="0"/>
              <a:t>✅ Enables scalable and reliable data pipelines</a:t>
            </a:r>
            <a:br>
              <a:rPr lang="en-US" dirty="0"/>
            </a:br>
            <a:r>
              <a:rPr lang="en-US" dirty="0"/>
              <a:t>✅ Simplifies data quality management</a:t>
            </a:r>
            <a:br>
              <a:rPr lang="en-US" dirty="0"/>
            </a:br>
            <a:r>
              <a:rPr lang="en-US" dirty="0"/>
              <a:t>✅ Enhances governance and security</a:t>
            </a:r>
            <a:br>
              <a:rPr lang="en-US" dirty="0"/>
            </a:br>
            <a:r>
              <a:rPr lang="en-US" dirty="0"/>
              <a:t>✅ Supports real-time and batch processing</a:t>
            </a:r>
            <a:br>
              <a:rPr lang="en-US" dirty="0"/>
            </a:br>
            <a:r>
              <a:rPr lang="en-US" dirty="0"/>
              <a:t>✅ Aligns technical design with business goals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719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562C4-DA3C-A227-F26F-8BFB06E4D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839" y="2103437"/>
            <a:ext cx="10515600" cy="1325563"/>
          </a:xfrm>
        </p:spPr>
        <p:txBody>
          <a:bodyPr/>
          <a:lstStyle/>
          <a:p>
            <a:r>
              <a:rPr lang="en-IN" dirty="0"/>
              <a:t>CROSS LAYER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970364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84CC6-BB16-C276-ADBD-C988DCE1B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1. Data Flow and Transformation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2. Data Governance and Quality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3. Performance Optimization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4. Operational and Cost Considerations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5. Cross-Layer Integration with Data Mesh and Other Paradigms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6. Challenges and Trade-offs</a:t>
            </a:r>
          </a:p>
          <a:p>
            <a:pPr marL="0" indent="0">
              <a:buNone/>
            </a:pPr>
            <a:endParaRPr lang="en-IN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414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D735-6826-D846-1C35-22CCB94C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1. Data Flow and Transformation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FE1B0-5CBB-C404-58BC-2132DB11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Incremental Refinement Across Layers</a:t>
            </a:r>
          </a:p>
          <a:p>
            <a:r>
              <a:rPr lang="en-IN" dirty="0">
                <a:effectLst/>
              </a:rPr>
              <a:t>Schema Evolution: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524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94E9-BA58-0150-D3FA-817BF903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729" y="89822"/>
            <a:ext cx="10515600" cy="1325563"/>
          </a:xfrm>
        </p:spPr>
        <p:txBody>
          <a:bodyPr/>
          <a:lstStyle/>
          <a:p>
            <a:r>
              <a:rPr lang="en-IN" dirty="0">
                <a:effectLst/>
              </a:rPr>
              <a:t>2. Data Governance and Quality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846C4-2EC7-FBC0-F770-C0ABD64B7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Data Quality Checks</a:t>
            </a:r>
          </a:p>
          <a:p>
            <a:r>
              <a:rPr lang="en-IN" dirty="0">
                <a:effectLst/>
              </a:rPr>
              <a:t>Access Control and Security</a:t>
            </a:r>
          </a:p>
          <a:p>
            <a:r>
              <a:rPr lang="en-IN" dirty="0">
                <a:effectLst/>
              </a:rPr>
              <a:t>Compliance and Auditing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040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C508-1B85-ED35-B615-79C4AF2A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3. Performance Optimization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A9BF7-6AC1-5C65-E416-C59AE9AAA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Storage and File Format</a:t>
            </a:r>
            <a:r>
              <a:rPr lang="en-IN" dirty="0"/>
              <a:t>: </a:t>
            </a:r>
          </a:p>
          <a:p>
            <a:r>
              <a:rPr lang="en-IN" dirty="0">
                <a:effectLst/>
              </a:rPr>
              <a:t>Query Optimization</a:t>
            </a:r>
          </a:p>
          <a:p>
            <a:r>
              <a:rPr lang="en-IN" dirty="0">
                <a:effectLst/>
              </a:rPr>
              <a:t>Streaming vs. Batch: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408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E26B-3AB7-652C-050C-EB0D579A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4. Operational and Cost Considerations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2451-457A-C628-27CA-8453C5145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Pipeline Orchestration</a:t>
            </a:r>
          </a:p>
          <a:p>
            <a:r>
              <a:rPr lang="en-IN" dirty="0">
                <a:effectLst/>
              </a:rPr>
              <a:t>Cost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484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F7F3-F344-3E84-CEC7-6C95A28F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5. Cross-Layer Integration with Data Mesh and Other Paradigms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9ADC8-2F83-A604-9436-C072B481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Data Mesh Compatibility</a:t>
            </a:r>
          </a:p>
          <a:p>
            <a:r>
              <a:rPr lang="en-IN" dirty="0">
                <a:effectLst/>
              </a:rPr>
              <a:t>Integration with External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236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DB1F-8C1B-9781-5BC7-5C5D1742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6. Challenges and Trade-offs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25AD-233A-CEE1-7DEB-2EF776364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Storage Costs: Storing data in multiple layers can triple storage needs, especially for large datasets.</a:t>
            </a:r>
          </a:p>
          <a:p>
            <a:r>
              <a:rPr lang="en-US" dirty="0"/>
              <a:t>Consumer Burden: Downstream users may need to create additional ETL jobs to access data, leading to tight coupling with source models.</a:t>
            </a:r>
          </a:p>
          <a:p>
            <a:r>
              <a:rPr lang="en-US" dirty="0"/>
              <a:t>Complexity at Scale: Managing dependencies and performance across layers requires expertise and robust tooling.</a:t>
            </a:r>
          </a:p>
          <a:p>
            <a:r>
              <a:rPr lang="en-US" dirty="0"/>
              <a:t>Consideration: Evaluate whether a full Medallion architecture is necessary for your use case. For smaller organizations, a simplified two-layer approach or hybrid lake/warehouse model may suffice.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650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BDE9-262B-AA19-C08B-C644E8C7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290" y="18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7. Best Practices for Cross-Layer Implementation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C7B9-1581-5A36-372A-6C4CDD04A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9" y="1343818"/>
            <a:ext cx="11491451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Delta Lake: Leverage Delta Lake’s ACID transactions, time travel, and schema evolution across all layers for reliability and flexibility.</a:t>
            </a:r>
          </a:p>
          <a:p>
            <a:r>
              <a:rPr lang="en-US" dirty="0"/>
              <a:t>Centralize Governance: Use Unity Catalog for consistent governance, access control, and lineage tracking.</a:t>
            </a:r>
          </a:p>
          <a:p>
            <a:r>
              <a:rPr lang="en-US" dirty="0"/>
              <a:t>Automate Pipelines: Use DLT or Workflows to streamline data flow and reduce manual intervention.</a:t>
            </a:r>
          </a:p>
          <a:p>
            <a:r>
              <a:rPr lang="en-US" dirty="0"/>
              <a:t>Monitor and Optimize: Implement monitoring for pipeline health and optimize tables (e.g., Z-Ordering, partitioning) based on query patterns.</a:t>
            </a:r>
          </a:p>
          <a:p>
            <a:r>
              <a:rPr lang="en-US" dirty="0"/>
              <a:t>Balance Latency and Quality: For real-time use cases, prioritize streaming pipelines but maintain normalized models in Silver to avoid long-term maintenance issues.</a:t>
            </a:r>
          </a:p>
          <a:p>
            <a:r>
              <a:rPr lang="en-US" dirty="0"/>
              <a:t>Adapt to Needs: Customize the architecture based on data volume, velocity, and analytical requirements, avoiding rigid adherence to the Bronze-Silver-Gold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1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1317</Words>
  <Application>Microsoft Office PowerPoint</Application>
  <PresentationFormat>Widescreen</PresentationFormat>
  <Paragraphs>122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Medallion Architecture </vt:lpstr>
      <vt:lpstr>PowerPoint Presentation</vt:lpstr>
      <vt:lpstr>What Is Medallion Architecture? </vt:lpstr>
      <vt:lpstr>PowerPoint Presentation</vt:lpstr>
      <vt:lpstr>PowerPoint Presentation</vt:lpstr>
      <vt:lpstr>Bronze Layer – Raw Data Ingestion </vt:lpstr>
      <vt:lpstr>Silver Layer – Cleansed and Standardized Data </vt:lpstr>
      <vt:lpstr>Silver Layer – Cleansed and Standardized Data </vt:lpstr>
      <vt:lpstr>PowerPoint Presentation</vt:lpstr>
      <vt:lpstr>Gold Layer – Business-Level Aggregations and Insights </vt:lpstr>
      <vt:lpstr>Gold Layer – Business-Level Aggregations and Insights </vt:lpstr>
      <vt:lpstr>Visual Summary of the Medallion Layers </vt:lpstr>
      <vt:lpstr>🔥 Tech stack examples:</vt:lpstr>
      <vt:lpstr>Comparison: Bronze vs Silver vs Gold </vt:lpstr>
      <vt:lpstr>Benefits of Medallion Architecture </vt:lpstr>
      <vt:lpstr>Technical Benefits: </vt:lpstr>
      <vt:lpstr>Business Benefits: </vt:lpstr>
      <vt:lpstr>Where Is Medallion Architecture Used? </vt:lpstr>
      <vt:lpstr>PowerPoint Presentation</vt:lpstr>
      <vt:lpstr>CROSS LAYER CONSIDERATIONS</vt:lpstr>
      <vt:lpstr>PowerPoint Presentation</vt:lpstr>
      <vt:lpstr>1. Data Flow and Transformation </vt:lpstr>
      <vt:lpstr>2. Data Governance and Quality </vt:lpstr>
      <vt:lpstr>3. Performance Optimization </vt:lpstr>
      <vt:lpstr>4. Operational and Cost Considerations </vt:lpstr>
      <vt:lpstr>5. Cross-Layer Integration with Data Mesh and Other Paradigms </vt:lpstr>
      <vt:lpstr>6. Challenges and Trade-offs </vt:lpstr>
      <vt:lpstr>7. Best Practices for Cross-Layer Implementation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16</cp:revision>
  <dcterms:created xsi:type="dcterms:W3CDTF">2025-08-06T03:05:07Z</dcterms:created>
  <dcterms:modified xsi:type="dcterms:W3CDTF">2025-08-13T03:36:37Z</dcterms:modified>
</cp:coreProperties>
</file>