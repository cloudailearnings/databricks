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62" r:id="rId19"/>
    <p:sldId id="263" r:id="rId20"/>
    <p:sldId id="264" r:id="rId21"/>
    <p:sldId id="258" r:id="rId22"/>
    <p:sldId id="265" r:id="rId23"/>
    <p:sldId id="266" r:id="rId24"/>
    <p:sldId id="2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16:16:50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3453 210 24575,'-938'-34'0,"810"27"0,-13 1 0,21 2 0,-135-22 0,131-2 0,-9-3 0,66 14 0,-11-1 0,-1 3 0,0 4 0,-138-2 0,172 16 0,1 3 0,0 1 0,0 3 0,-71 24 0,-11 2 0,63-24 0,46-9 0,-1 0 0,1 1 0,0 0 0,1 2 0,-21 8 0,-17 14 0,-94 64 0,102-63 0,37-24 0,0 0 0,0 1 0,0 0 0,1 1 0,0 0 0,0 0 0,0 0 0,1 1 0,-11 15 0,-2 17 0,1 1 0,3 1 0,1 0 0,-14 66 0,4-17 0,19-72 0,1 1 0,0-1 0,1 1 0,2 0 0,0 0 0,1 0 0,1 0 0,1 1 0,0-1 0,2 0 0,0 0 0,7 21 0,10 30 0,-12-37 0,3 0 0,17 40 0,-4-17 0,-12-29 0,27 49 0,-9-28 0,-3 1 0,-2 2 0,-2 0 0,18 60 0,-31-84 0,2-1 0,2 0 0,0 0 0,2-1 0,0-1 0,34 38 0,-48-60 0,34 49 0,-30-41 0,1 0 0,0 0 0,1-1 0,0 0 0,1 0 0,0-1 0,19 15 0,29 14 0,1-3 0,2-3 0,120 46 0,-142-68 0,1-1 0,43 4 0,4 1 0,-18-3 0,116 4 0,72-16 0,-96-1 0,-78-2 0,-1-4 0,90-20 0,12-2 0,-71 12 0,190-58 0,-242 61 0,-35 9 0,-1 0 0,0-2 0,23-10 0,12-8 0,-30 14 0,0-2 0,28-17 0,26-21 0,116-53 0,-187 98 0,0-1 0,0 1 0,-1-2 0,0 0 0,-1 0 0,13-14 0,-13 12 0,1 0 0,0 1 0,1 1 0,0-1 0,17-8 0,12 0 0,1 1 0,64-15 0,13-6 0,-65 17 0,0 3 0,0 2 0,94-14 0,-32 13 0,213-63 0,-220 55 0,16-5 0,128-69 0,-197 75 0,40-8 0,-69 24 0,0 0 0,44-21 0,234-144 0,-191 105 0,14-7 0,-82 49 0,0-3 0,-2-1 0,-1-2 0,40-40 0,-81 71 0,-1 0 0,0 0 0,0-1 0,0 1 0,0 0 0,0-1 0,0 1 0,0-1 0,0 1 0,0-1 0,0 1 0,-1-1 0,1 1 0,-1-1 0,1 0 0,-1 1 0,0-1 0,0 0 0,0 1 0,0-1 0,0 0 0,0 1 0,0-4 0,-2 2 0,1-1 0,0 1 0,-1-1 0,0 1 0,1-1 0,-1 1 0,-1 0 0,1 0 0,0 0 0,-4-3 0,-8-7 0,-1 1 0,1 1 0,-23-14 0,33 23 0,-43-25 0,-1 2 0,-1 2 0,0 2 0,-2 3 0,-1 1 0,-77-13 0,109 26 0,0-1 0,0-1 0,0-1 0,-30-15 0,37 16 0,0 1 0,0 1 0,0 0 0,-1 0 0,0 1 0,0 1 0,-16-1 0,-103 5 0,60 1 0,-841-3 0,883-1 0,-52-10 0,2 0 0,-45-7 0,54 6 0,-45-12 0,85 15 0,-1 2 0,0 1 0,-40-2 0,21 8-1365,30 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3062-4589-B920-6537-3D5338079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1C8DA-2DDD-64BE-2EA9-143CB88E9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F5CD4-C270-34B7-7D11-4F67A866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2B5D5-F769-BA77-A939-DA25CA339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27263-4DFC-BC33-3FB3-647E5432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0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4171-CDF2-F30D-3EC5-24ACE4DE0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55622-ED36-AEF9-4D37-2552F8E7B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EC1AF-0A30-4125-DF32-F17012AB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9E50-7FF4-EE5F-152E-5D4E86A37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DCAC9-A28A-2A67-EAFF-767B644C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051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4EE45-EA6D-B47E-F12F-65967285D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DE64E-FF16-F0D6-BC5D-CA0716BEE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5A898-3767-43ED-7910-FF7F5540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CFE5F-3CA7-B1E8-FE8C-1A7290CBC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7C3ED-B1D3-7D29-97C6-CBD96514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34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2B5B-D616-5E08-C52F-BEB85D48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5FAF9-ADC3-4E9B-70AC-351BDF7C4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7708D-1512-6CF4-5395-CB86F8992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84160-FDF9-13FF-40D9-7C9ED8321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2699F-5968-1EAC-5277-301B435E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4A26B-F991-1502-D02A-B402430C0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83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5669-B66B-4AF9-DFE8-7810C11F6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D4C25-9181-2140-E263-0EC7D71C7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217C5-EDB4-F6AA-DD7B-7E7A8B42A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9AB8C-9E4A-FD13-F17D-925923F44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C3F13-764E-A73C-814E-2DC408B3A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76637-5619-D79B-C4EF-D83B6D80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75D2C-1E99-31EA-9236-33C6E861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9C4CD-CE68-0835-7AE7-FEF715C48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574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CE9EF-08A7-0BC4-6776-F813C8AE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8ACBE-B2BC-A324-9F50-32A90F97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B4032-518C-12AC-A333-030200002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5655F-095B-2F3C-AB2D-489496C7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75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C7656-F636-6432-BADE-6CBC216E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64737C-69D5-ED80-3478-B05BDE56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C9966-E644-8864-1BEA-0EFC7E2C7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1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F7296-D360-74A6-32A0-11D27BD3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14C14-AA05-6D89-6A73-C9813AB5B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51AF9-0FAC-6D0B-A048-6EE87A085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6B25B-54F0-6AB7-A36F-CACC75EE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F84F7-2D2F-1232-EE2C-71CD7B6C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BCD9-E098-3749-86FE-A2BA68A2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65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35C8-C9B9-A6AD-D60F-09F9DA72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552D7-28E9-1F15-8FF2-61D9ACBCC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0AF-13E3-0C29-7E44-306F99D48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2C9FD-B92D-EFC4-8874-4A906E881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79004-AE87-47AB-03D1-2111F6C2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35980-8A2F-AD51-604D-C5E0CB87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06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AC18-673C-E5B2-1BC0-E319E3D5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962F1-488C-0B35-FB2D-EDC8C1700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23450-ACE0-305A-E280-A7C6123CE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87426-A835-3C9F-BFD5-36169202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8A84B-AF3D-85ED-5121-2AAD343D8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7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ECF5A5-E366-5BC6-2448-03CE85D0F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F8388-C08D-9E89-CD18-7D87564CD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31F5B-A26D-9332-3384-A7ED6980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E02A1-7A31-A655-C8A9-4A020BB6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17864-74C7-F1F8-2B44-3B663E1AF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50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E541D4-1FC1-80D6-C974-1AA3BFC8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74082-862B-457C-590E-C3635718D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E113A-885B-AD80-6B69-97FF77ECB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19A81-53D4-46ED-9763-4B3823F97E66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6954E-6C5D-6A01-74BA-47637A245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7B9C4-D64A-E81E-D0E1-95253ECF04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FEB92-097E-414E-A41C-DAADF53A06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12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C430-7126-C3FC-5C3F-96D9843036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Mounting Amazon S3 in Databricks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855C2-BFA8-1A5E-4FC7-2AB2508866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Concepts, Architecture, Steps, and Best Practices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89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AFE0B4-87D8-AD49-23D1-D56520568B00}"/>
              </a:ext>
            </a:extLst>
          </p:cNvPr>
          <p:cNvSpPr txBox="1"/>
          <p:nvPr/>
        </p:nvSpPr>
        <p:spPr>
          <a:xfrm>
            <a:off x="3611880" y="5620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What Is S3 Mounting?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27B6FB-B4EC-315C-9272-4502CCA1E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1" y="1671848"/>
            <a:ext cx="999861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Mounting S3 in Databricks means creating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persistent path in DBFS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(Databricks File System) that points to an S3 bucket.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You can then access S3 like a local file system: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   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                      /</a:t>
            </a:r>
            <a:r>
              <a:rPr lang="en-US" altLang="en-US" b="1" dirty="0" err="1">
                <a:latin typeface="Arial" panose="020B0604020202020204" pitchFamily="34" charset="0"/>
              </a:rPr>
              <a:t>mnt</a:t>
            </a:r>
            <a:r>
              <a:rPr lang="en-US" altLang="en-US" b="1" dirty="0">
                <a:latin typeface="Arial" panose="020B0604020202020204" pitchFamily="34" charset="0"/>
              </a:rPr>
              <a:t>/&lt;mount-name&gt;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A0488-A5ED-7829-FDFB-B2E9D2C18556}"/>
              </a:ext>
            </a:extLst>
          </p:cNvPr>
          <p:cNvSpPr txBox="1"/>
          <p:nvPr/>
        </p:nvSpPr>
        <p:spPr>
          <a:xfrm>
            <a:off x="1114720" y="4367761"/>
            <a:ext cx="6436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Useful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 file access (</a:t>
            </a:r>
            <a:r>
              <a:rPr lang="en-IN" dirty="0">
                <a:latin typeface="Courier New" panose="02070309020205020404" pitchFamily="49" charset="0"/>
              </a:rPr>
              <a:t>dbutils.fs.ls</a:t>
            </a:r>
            <a:r>
              <a:rPr lang="en-IN" dirty="0"/>
              <a:t>, pandas, Spark)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Simplified ETL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Consistent paths for notebooks &amp; jobs</a:t>
            </a:r>
          </a:p>
        </p:txBody>
      </p:sp>
    </p:spTree>
    <p:extLst>
      <p:ext uri="{BB962C8B-B14F-4D97-AF65-F5344CB8AC3E}">
        <p14:creationId xmlns:p14="http://schemas.microsoft.com/office/powerpoint/2010/main" val="255067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1C832-EE18-278F-C507-407039C2299A}"/>
              </a:ext>
            </a:extLst>
          </p:cNvPr>
          <p:cNvSpPr txBox="1"/>
          <p:nvPr/>
        </p:nvSpPr>
        <p:spPr>
          <a:xfrm>
            <a:off x="3622250" y="201832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Architecture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602440-73B7-965A-9302-F9457510A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0643"/>
            <a:ext cx="12192000" cy="48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5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87BC8-DAB0-EC90-11FF-BE1D4CEAC818}"/>
              </a:ext>
            </a:extLst>
          </p:cNvPr>
          <p:cNvSpPr txBox="1"/>
          <p:nvPr/>
        </p:nvSpPr>
        <p:spPr>
          <a:xfrm>
            <a:off x="4103017" y="607185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i="0" dirty="0">
                <a:solidFill>
                  <a:srgbClr val="0A0A0A"/>
                </a:solidFill>
                <a:effectLst/>
                <a:latin typeface="Google Sans"/>
              </a:rPr>
              <a:t>Prerequisites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DDD8A-E625-D2B5-2A4E-AF37EBA33A05}"/>
              </a:ext>
            </a:extLst>
          </p:cNvPr>
          <p:cNvSpPr txBox="1"/>
          <p:nvPr/>
        </p:nvSpPr>
        <p:spPr>
          <a:xfrm>
            <a:off x="1300899" y="1695157"/>
            <a:ext cx="8783424" cy="1634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An AWS account with an S3 bucket and an IAM user with programmatic access (Access Key ID and Secret Access Key) and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AmazonS3FullAccess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policy attached.</a:t>
            </a:r>
          </a:p>
          <a:p>
            <a:pPr algn="l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A running Databricks cluster.</a:t>
            </a:r>
          </a:p>
          <a:p>
            <a:pPr algn="l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A Databricks secret scope to securely store your AWS credentials.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7739A-571A-3FBA-C79A-7DFB36855EAF}"/>
              </a:ext>
            </a:extLst>
          </p:cNvPr>
          <p:cNvSpPr txBox="1"/>
          <p:nvPr/>
        </p:nvSpPr>
        <p:spPr>
          <a:xfrm>
            <a:off x="1300899" y="3665492"/>
            <a:ext cx="60944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Before mounting S3, ensure:</a:t>
            </a:r>
          </a:p>
          <a:p>
            <a:pPr>
              <a:buFont typeface="+mj-lt"/>
              <a:buAutoNum type="arabicPeriod"/>
            </a:pPr>
            <a:r>
              <a:rPr lang="en-US" dirty="0"/>
              <a:t>S3 bucket exists</a:t>
            </a:r>
          </a:p>
          <a:p>
            <a:pPr>
              <a:buFont typeface="+mj-lt"/>
              <a:buAutoNum type="arabicPeriod"/>
            </a:pPr>
            <a:r>
              <a:rPr lang="en-US" dirty="0"/>
              <a:t>IAM User or Role created</a:t>
            </a:r>
          </a:p>
          <a:p>
            <a:pPr>
              <a:buFont typeface="+mj-lt"/>
              <a:buAutoNum type="arabicPeriod"/>
            </a:pPr>
            <a:r>
              <a:rPr lang="en-US" dirty="0"/>
              <a:t>Permission attached: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s3:ListBucket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s3:GetObject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s3:PutObject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Access &amp; Secret keys available OR IAM role for Databricks cluster</a:t>
            </a:r>
          </a:p>
        </p:txBody>
      </p:sp>
    </p:spTree>
    <p:extLst>
      <p:ext uri="{BB962C8B-B14F-4D97-AF65-F5344CB8AC3E}">
        <p14:creationId xmlns:p14="http://schemas.microsoft.com/office/powerpoint/2010/main" val="56859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C37F38-1603-E7B0-4E7C-412E640C1208}"/>
              </a:ext>
            </a:extLst>
          </p:cNvPr>
          <p:cNvSpPr txBox="1"/>
          <p:nvPr/>
        </p:nvSpPr>
        <p:spPr>
          <a:xfrm>
            <a:off x="1404594" y="661390"/>
            <a:ext cx="9700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A0A0A"/>
                </a:solidFill>
                <a:effectLst/>
                <a:latin typeface="Google Sans"/>
              </a:rPr>
              <a:t>Step-by-Step Guide (Legacy Method with Access Keys)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5C1EE-8DBA-1EFC-9561-B466E32A469A}"/>
              </a:ext>
            </a:extLst>
          </p:cNvPr>
          <p:cNvSpPr txBox="1"/>
          <p:nvPr/>
        </p:nvSpPr>
        <p:spPr>
          <a:xfrm>
            <a:off x="1218414" y="1991488"/>
            <a:ext cx="8255523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IN" sz="2400" b="1" dirty="0"/>
              <a:t>Store AWS Credentials Securely in Databricks Secrets </a:t>
            </a:r>
          </a:p>
          <a:p>
            <a:pPr marL="457200" indent="-457200">
              <a:buAutoNum type="arabicPeriod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Store your AWS credentials in Databricks using a secret scope to avoid hardcoding them in notebooks.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Create a secret scope (e.g., </a:t>
            </a:r>
            <a:r>
              <a:rPr lang="en-IN" dirty="0" err="1"/>
              <a:t>aws_scope</a:t>
            </a:r>
            <a:r>
              <a:rPr lang="en-IN" dirty="0"/>
              <a:t>) using the Databricks CLI or REST API.</a:t>
            </a:r>
          </a:p>
          <a:p>
            <a:r>
              <a:rPr lang="en-IN" dirty="0"/>
              <a:t>Add your </a:t>
            </a:r>
            <a:r>
              <a:rPr lang="en-IN" dirty="0" err="1"/>
              <a:t>aws</a:t>
            </a:r>
            <a:r>
              <a:rPr lang="en-IN" dirty="0"/>
              <a:t>-access-key and </a:t>
            </a:r>
            <a:r>
              <a:rPr lang="en-IN" dirty="0" err="1"/>
              <a:t>aws</a:t>
            </a:r>
            <a:r>
              <a:rPr lang="en-IN" dirty="0"/>
              <a:t>-secret-key as secrets within that scope.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4E9A00-AB2B-F073-0C7F-230A2CAB3E72}"/>
              </a:ext>
            </a:extLst>
          </p:cNvPr>
          <p:cNvSpPr txBox="1"/>
          <p:nvPr/>
        </p:nvSpPr>
        <p:spPr>
          <a:xfrm>
            <a:off x="1312683" y="4572248"/>
            <a:ext cx="81612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2. Configure the Databricks Notebook</a:t>
            </a:r>
          </a:p>
          <a:p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Open a new or existing Databricks notebook and attach it to your running cluster.</a:t>
            </a:r>
          </a:p>
        </p:txBody>
      </p:sp>
    </p:spTree>
    <p:extLst>
      <p:ext uri="{BB962C8B-B14F-4D97-AF65-F5344CB8AC3E}">
        <p14:creationId xmlns:p14="http://schemas.microsoft.com/office/powerpoint/2010/main" val="3309354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1DE6793-3DC9-6329-A023-5C89EBCA0DA1}"/>
              </a:ext>
            </a:extLst>
          </p:cNvPr>
          <p:cNvSpPr txBox="1"/>
          <p:nvPr/>
        </p:nvSpPr>
        <p:spPr>
          <a:xfrm>
            <a:off x="2302889" y="3945981"/>
            <a:ext cx="8151828" cy="5572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ts val="1800"/>
              </a:lnSpc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In the AWS console, create an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IAM User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with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AmazonS3FullAccess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and download the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Access Key ID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Secret Access Key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F7BB13F-10AE-2C44-3640-32A3993F4EB5}"/>
              </a:ext>
            </a:extLst>
          </p:cNvPr>
          <p:cNvSpPr txBox="1"/>
          <p:nvPr/>
        </p:nvSpPr>
        <p:spPr>
          <a:xfrm>
            <a:off x="1737282" y="2354814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i="0" dirty="0">
                <a:solidFill>
                  <a:srgbClr val="0A0A0A"/>
                </a:solidFill>
                <a:effectLst/>
                <a:latin typeface="Google Sans"/>
              </a:rPr>
              <a:t>Generate AWS Keys: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0163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D62428-14A1-A6D2-E5F5-C4187CF2F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97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22BC1A-1342-FE1E-E402-A10F3B5F2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C8B91B-3807-BAAF-BBAF-5BB1A5FF1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6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584F26-C437-924A-E0F0-5E923E4C9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14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4C7B68-E932-E2FC-DF0A-7649C97F8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45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FC3F49-CC6A-997C-4C11-FAEE08427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99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859E3A-0809-BC8F-E8C8-02E8EC978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6D43DB-B946-5BFE-0209-6D61DE7F5494}"/>
                  </a:ext>
                </a:extLst>
              </p14:cNvPr>
              <p14:cNvContentPartPr/>
              <p14:nvPr/>
            </p14:nvContentPartPr>
            <p14:xfrm>
              <a:off x="8409050" y="2158288"/>
              <a:ext cx="2239920" cy="840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6D43DB-B946-5BFE-0209-6D61DE7F54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02929" y="2152168"/>
                <a:ext cx="2252162" cy="85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3241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AA5B10-BBBF-8750-0CE4-133105AEE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2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28DD86-574A-7129-1EA7-46795B94F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422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5916EF-63FB-5857-3287-09940258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61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09C2EA4-6D0E-5403-3A82-EFF37F0D96D3}"/>
              </a:ext>
            </a:extLst>
          </p:cNvPr>
          <p:cNvSpPr txBox="1"/>
          <p:nvPr/>
        </p:nvSpPr>
        <p:spPr>
          <a:xfrm>
            <a:off x="2778943" y="1916342"/>
            <a:ext cx="6634113" cy="106567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00"/>
              </a:lnSpc>
              <a:spcAft>
                <a:spcPts val="900"/>
              </a:spcAft>
            </a:pPr>
            <a:r>
              <a:rPr lang="en-US" sz="2800" b="1" i="0" dirty="0">
                <a:solidFill>
                  <a:srgbClr val="0A0A0A"/>
                </a:solidFill>
                <a:effectLst/>
                <a:latin typeface="Google Sans"/>
              </a:rPr>
              <a:t>Encode the Secret Key: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 Secret keys often</a:t>
            </a:r>
          </a:p>
          <a:p>
            <a:pPr algn="l">
              <a:lnSpc>
                <a:spcPts val="1800"/>
              </a:lnSpc>
              <a:spcAft>
                <a:spcPts val="900"/>
              </a:spcAft>
            </a:pPr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 contain slashes (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), which must be URL</a:t>
            </a:r>
          </a:p>
          <a:p>
            <a:pPr algn="l">
              <a:lnSpc>
                <a:spcPts val="1800"/>
              </a:lnSpc>
              <a:spcAft>
                <a:spcPts val="900"/>
              </a:spcAft>
            </a:pPr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-encoded as 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%2F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BB938936-93C3-E0CF-2315-3E194A55CDF6}"/>
              </a:ext>
            </a:extLst>
          </p:cNvPr>
          <p:cNvSpPr txBox="1"/>
          <p:nvPr/>
        </p:nvSpPr>
        <p:spPr>
          <a:xfrm>
            <a:off x="2778943" y="3987550"/>
            <a:ext cx="60944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i="0" dirty="0">
                <a:solidFill>
                  <a:srgbClr val="0A0A0A"/>
                </a:solidFill>
                <a:effectLst/>
                <a:latin typeface="Google Sans"/>
              </a:rPr>
              <a:t>Run Mount Command:</a:t>
            </a:r>
            <a:r>
              <a:rPr lang="en-US" sz="2800" b="0" i="0" dirty="0">
                <a:solidFill>
                  <a:srgbClr val="0A0A0A"/>
                </a:solidFill>
                <a:effectLst/>
                <a:latin typeface="Google Sans"/>
              </a:rPr>
              <a:t> Execute the following in a Databricks notebook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62797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CA189A-9466-2E8B-DAC5-087D563109BF}"/>
              </a:ext>
            </a:extLst>
          </p:cNvPr>
          <p:cNvSpPr txBox="1"/>
          <p:nvPr/>
        </p:nvSpPr>
        <p:spPr>
          <a:xfrm>
            <a:off x="1002383" y="635465"/>
            <a:ext cx="11189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sz="3600" b="1" i="0" dirty="0">
                <a:solidFill>
                  <a:srgbClr val="0A0A0A"/>
                </a:solidFill>
                <a:effectLst/>
                <a:latin typeface="Google Sans"/>
              </a:rPr>
              <a:t>Mount the S3 Bucket using </a:t>
            </a:r>
            <a:r>
              <a:rPr lang="en-US" sz="3600" b="1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dbutils.fs.mount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DDAB1-574E-B3D8-B36F-59FF271B485C}"/>
              </a:ext>
            </a:extLst>
          </p:cNvPr>
          <p:cNvSpPr txBox="1"/>
          <p:nvPr/>
        </p:nvSpPr>
        <p:spPr>
          <a:xfrm>
            <a:off x="2149312" y="2197440"/>
            <a:ext cx="67660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ACCESS_KEY = "&lt;YOUR-AWS-ACCESS-KEY&gt;"</a:t>
            </a:r>
          </a:p>
          <a:p>
            <a:r>
              <a:rPr lang="en-IN" dirty="0"/>
              <a:t>SECRET_KEY = "&lt;YOUR-AWS-SECRET-KEY&gt;"</a:t>
            </a:r>
          </a:p>
          <a:p>
            <a:r>
              <a:rPr lang="en-IN" dirty="0"/>
              <a:t>ENCODED_SECRET = </a:t>
            </a:r>
            <a:r>
              <a:rPr lang="en-IN" dirty="0" err="1"/>
              <a:t>SECRET_KEY.replace</a:t>
            </a:r>
            <a:r>
              <a:rPr lang="en-IN" dirty="0"/>
              <a:t>("/", "%2F")</a:t>
            </a:r>
          </a:p>
          <a:p>
            <a:endParaRPr lang="en-IN" dirty="0"/>
          </a:p>
          <a:p>
            <a:r>
              <a:rPr lang="en-IN" dirty="0" err="1"/>
              <a:t>dbutils.fs.mount</a:t>
            </a:r>
            <a:r>
              <a:rPr lang="en-IN" dirty="0"/>
              <a:t>(</a:t>
            </a:r>
          </a:p>
          <a:p>
            <a:r>
              <a:rPr lang="en-IN" dirty="0"/>
              <a:t>  source = f"s3a://{ACCESS_KEY}:{ENCODED_SECRET}@your-bucket-name",</a:t>
            </a:r>
          </a:p>
          <a:p>
            <a:r>
              <a:rPr lang="en-IN" dirty="0"/>
              <a:t>  </a:t>
            </a:r>
            <a:r>
              <a:rPr lang="en-IN" dirty="0" err="1"/>
              <a:t>mount_point</a:t>
            </a:r>
            <a:r>
              <a:rPr lang="en-IN" dirty="0"/>
              <a:t> = "/</a:t>
            </a:r>
            <a:r>
              <a:rPr lang="en-IN" dirty="0" err="1"/>
              <a:t>mnt</a:t>
            </a:r>
            <a:r>
              <a:rPr lang="en-IN" dirty="0"/>
              <a:t>/</a:t>
            </a:r>
            <a:r>
              <a:rPr lang="en-IN" dirty="0" err="1"/>
              <a:t>mybucket</a:t>
            </a:r>
            <a:r>
              <a:rPr lang="en-IN" dirty="0"/>
              <a:t>",</a:t>
            </a:r>
          </a:p>
          <a:p>
            <a:r>
              <a:rPr lang="en-IN" dirty="0"/>
              <a:t>  </a:t>
            </a:r>
            <a:r>
              <a:rPr lang="en-IN" dirty="0" err="1"/>
              <a:t>extra_configs</a:t>
            </a:r>
            <a:r>
              <a:rPr lang="en-IN" dirty="0"/>
              <a:t> = {</a:t>
            </a:r>
          </a:p>
          <a:p>
            <a:r>
              <a:rPr lang="en-IN" dirty="0"/>
              <a:t>    "fs.s3a.access.key": ACCESS_KEY,</a:t>
            </a:r>
          </a:p>
          <a:p>
            <a:r>
              <a:rPr lang="en-IN" dirty="0"/>
              <a:t>    "fs.s3a.secret.key": SECRET_KEY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17051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169089-23A6-58E0-FDF1-452CA95759F2}"/>
              </a:ext>
            </a:extLst>
          </p:cNvPr>
          <p:cNvSpPr txBox="1"/>
          <p:nvPr/>
        </p:nvSpPr>
        <p:spPr>
          <a:xfrm>
            <a:off x="1736889" y="1069098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Validate the Mount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A8F91-DBD1-A21B-D64D-7FE128AEEABB}"/>
              </a:ext>
            </a:extLst>
          </p:cNvPr>
          <p:cNvSpPr txBox="1"/>
          <p:nvPr/>
        </p:nvSpPr>
        <p:spPr>
          <a:xfrm>
            <a:off x="2726703" y="174782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dbutils.fs.ls("/</a:t>
            </a:r>
            <a:r>
              <a:rPr lang="en-IN" dirty="0" err="1"/>
              <a:t>mnt</a:t>
            </a:r>
            <a:r>
              <a:rPr lang="en-IN" dirty="0"/>
              <a:t>/</a:t>
            </a:r>
            <a:r>
              <a:rPr lang="en-IN" dirty="0" err="1"/>
              <a:t>mybucket</a:t>
            </a:r>
            <a:r>
              <a:rPr lang="en-IN" dirty="0"/>
              <a:t>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CFC16A-1D10-78F3-6C47-3851709A6C76}"/>
              </a:ext>
            </a:extLst>
          </p:cNvPr>
          <p:cNvSpPr txBox="1"/>
          <p:nvPr/>
        </p:nvSpPr>
        <p:spPr>
          <a:xfrm>
            <a:off x="1736889" y="3114715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Reading Files from Mounted S3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79CA9-F56B-31DD-734B-61B65DEC0153}"/>
              </a:ext>
            </a:extLst>
          </p:cNvPr>
          <p:cNvSpPr txBox="1"/>
          <p:nvPr/>
        </p:nvSpPr>
        <p:spPr>
          <a:xfrm>
            <a:off x="2830398" y="4279176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df</a:t>
            </a:r>
            <a:r>
              <a:rPr lang="en-IN" dirty="0"/>
              <a:t> = spark.read.csv("/</a:t>
            </a:r>
            <a:r>
              <a:rPr lang="en-IN" dirty="0" err="1"/>
              <a:t>mnt</a:t>
            </a:r>
            <a:r>
              <a:rPr lang="en-IN" dirty="0"/>
              <a:t>/</a:t>
            </a:r>
            <a:r>
              <a:rPr lang="en-IN" dirty="0" err="1"/>
              <a:t>mybucket</a:t>
            </a:r>
            <a:r>
              <a:rPr lang="en-IN" dirty="0"/>
              <a:t>/data/file.csv", header=True)</a:t>
            </a:r>
          </a:p>
          <a:p>
            <a:r>
              <a:rPr lang="en-IN" dirty="0" err="1"/>
              <a:t>df.show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2514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5B850B-ABB2-AEDE-CFE3-866B9DA63C68}"/>
              </a:ext>
            </a:extLst>
          </p:cNvPr>
          <p:cNvSpPr txBox="1"/>
          <p:nvPr/>
        </p:nvSpPr>
        <p:spPr>
          <a:xfrm>
            <a:off x="1812304" y="1182220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Writing Files to Mounted S3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2FBCF-4F00-94D9-CB9C-DED615FE0183}"/>
              </a:ext>
            </a:extLst>
          </p:cNvPr>
          <p:cNvSpPr txBox="1"/>
          <p:nvPr/>
        </p:nvSpPr>
        <p:spPr>
          <a:xfrm>
            <a:off x="2792691" y="205891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df.write.parquet</a:t>
            </a:r>
            <a:r>
              <a:rPr lang="en-IN" dirty="0"/>
              <a:t>("/</a:t>
            </a:r>
            <a:r>
              <a:rPr lang="en-IN" dirty="0" err="1"/>
              <a:t>mnt</a:t>
            </a:r>
            <a:r>
              <a:rPr lang="en-IN" dirty="0"/>
              <a:t>/</a:t>
            </a:r>
            <a:r>
              <a:rPr lang="en-IN" dirty="0" err="1"/>
              <a:t>mybucket</a:t>
            </a:r>
            <a:r>
              <a:rPr lang="en-IN" dirty="0"/>
              <a:t>/output/</a:t>
            </a:r>
            <a:r>
              <a:rPr lang="en-IN" dirty="0" err="1"/>
              <a:t>mydata</a:t>
            </a:r>
            <a:r>
              <a:rPr lang="en-IN" dirty="0"/>
              <a:t>/")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DAC5F-1F65-F188-5E44-CCCB3FC38F42}"/>
              </a:ext>
            </a:extLst>
          </p:cNvPr>
          <p:cNvSpPr txBox="1"/>
          <p:nvPr/>
        </p:nvSpPr>
        <p:spPr>
          <a:xfrm>
            <a:off x="1972559" y="3642616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Unmounting S3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86375-76C1-048F-3890-36E9EE8F4E02}"/>
              </a:ext>
            </a:extLst>
          </p:cNvPr>
          <p:cNvSpPr txBox="1"/>
          <p:nvPr/>
        </p:nvSpPr>
        <p:spPr>
          <a:xfrm>
            <a:off x="2877533" y="494932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dbutils.fs.unmount</a:t>
            </a:r>
            <a:r>
              <a:rPr lang="en-IN" dirty="0"/>
              <a:t>("/</a:t>
            </a:r>
            <a:r>
              <a:rPr lang="en-IN" dirty="0" err="1"/>
              <a:t>mnt</a:t>
            </a:r>
            <a:r>
              <a:rPr lang="en-IN" dirty="0"/>
              <a:t>/</a:t>
            </a:r>
            <a:r>
              <a:rPr lang="en-IN" dirty="0" err="1"/>
              <a:t>mybucket</a:t>
            </a:r>
            <a:r>
              <a:rPr lang="en-IN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301914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7C670A-6E70-4873-2270-E8330EA8EF62}"/>
              </a:ext>
            </a:extLst>
          </p:cNvPr>
          <p:cNvSpPr txBox="1"/>
          <p:nvPr/>
        </p:nvSpPr>
        <p:spPr>
          <a:xfrm>
            <a:off x="2007909" y="644892"/>
            <a:ext cx="8491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Why Mount S3 Instead of Direct S3 Access?</a:t>
            </a:r>
            <a:endParaRPr lang="en-IN"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161B69-335C-3632-323C-EB9BA8C62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739045"/>
              </p:ext>
            </p:extLst>
          </p:nvPr>
        </p:nvGraphicFramePr>
        <p:xfrm>
          <a:off x="2189506" y="1489434"/>
          <a:ext cx="8128000" cy="3761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4498928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31908288"/>
                    </a:ext>
                  </a:extLst>
                </a:gridCol>
              </a:tblGrid>
              <a:tr h="75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Direct S3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Mounted 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56595"/>
                  </a:ext>
                </a:extLst>
              </a:tr>
              <a:tr h="75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Must specify credentials repeatedly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Credentials handled once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482047"/>
                  </a:ext>
                </a:extLst>
              </a:tr>
              <a:tr h="75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Paths like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s3a://bucket/file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Simpler paths: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/mnt/bucket/file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100158"/>
                  </a:ext>
                </a:extLst>
              </a:tr>
              <a:tr h="75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Harder for non-technical teams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User-friendly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961578"/>
                  </a:ext>
                </a:extLst>
              </a:tr>
              <a:tr h="7522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auto-caching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DBFS may cache metadata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6598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2736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B5F92A-9470-8E9E-9BF2-C129C68F93B8}"/>
              </a:ext>
            </a:extLst>
          </p:cNvPr>
          <p:cNvSpPr txBox="1"/>
          <p:nvPr/>
        </p:nvSpPr>
        <p:spPr>
          <a:xfrm>
            <a:off x="2594728" y="72973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Direct S3 Access </a:t>
            </a:r>
            <a:r>
              <a:rPr lang="en-US" sz="2400" b="1" dirty="0"/>
              <a:t>vs</a:t>
            </a:r>
            <a:r>
              <a:rPr lang="en-US" sz="3600" b="1" dirty="0"/>
              <a:t> Mounting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454EFD-A870-7121-0062-475F6085C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220104"/>
              </p:ext>
            </p:extLst>
          </p:nvPr>
        </p:nvGraphicFramePr>
        <p:xfrm>
          <a:off x="1834037" y="1888588"/>
          <a:ext cx="8128000" cy="359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1913539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90249526"/>
                    </a:ext>
                  </a:extLst>
                </a:gridCol>
              </a:tblGrid>
              <a:tr h="71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Recommended 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984682"/>
                  </a:ext>
                </a:extLst>
              </a:tr>
              <a:tr h="71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pipelines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 S3 or IAM roles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297173"/>
                  </a:ext>
                </a:extLst>
              </a:tr>
              <a:tr h="71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Analytics team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Mounting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2733654"/>
                  </a:ext>
                </a:extLst>
              </a:tr>
              <a:tr h="71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High-security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IAM roles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033236"/>
                  </a:ext>
                </a:extLst>
              </a:tr>
              <a:tr h="71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Ad-hoc data exploration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Mounting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671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9577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F0B98D-F53A-CB22-E072-86BA490BA594}"/>
              </a:ext>
            </a:extLst>
          </p:cNvPr>
          <p:cNvSpPr txBox="1"/>
          <p:nvPr/>
        </p:nvSpPr>
        <p:spPr>
          <a:xfrm>
            <a:off x="3773079" y="1050245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End-to-End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446C81-4DCC-462A-216F-4C737F5F6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9242" y="2314185"/>
            <a:ext cx="409919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S3 bucket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Configure IAM policy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keys in Databricks Secrets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Mount bucket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ETL using Spark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Unmount or control access if required</a:t>
            </a:r>
          </a:p>
        </p:txBody>
      </p:sp>
    </p:spTree>
    <p:extLst>
      <p:ext uri="{BB962C8B-B14F-4D97-AF65-F5344CB8AC3E}">
        <p14:creationId xmlns:p14="http://schemas.microsoft.com/office/powerpoint/2010/main" val="1820524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E251B7-54EC-7B07-AA6D-7AFBF4846A2A}"/>
              </a:ext>
            </a:extLst>
          </p:cNvPr>
          <p:cNvSpPr txBox="1"/>
          <p:nvPr/>
        </p:nvSpPr>
        <p:spPr>
          <a:xfrm>
            <a:off x="4772321" y="2715168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3155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601</Words>
  <Application>Microsoft Office PowerPoint</Application>
  <PresentationFormat>Widescreen</PresentationFormat>
  <Paragraphs>98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Google Sans</vt:lpstr>
      <vt:lpstr>Wingdings</vt:lpstr>
      <vt:lpstr>Office Theme</vt:lpstr>
      <vt:lpstr>Mounting Amazon S3 in Databricks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Ameer</dc:creator>
  <cp:lastModifiedBy>Syed Ameer</cp:lastModifiedBy>
  <cp:revision>2</cp:revision>
  <dcterms:created xsi:type="dcterms:W3CDTF">2025-11-23T16:09:57Z</dcterms:created>
  <dcterms:modified xsi:type="dcterms:W3CDTF">2026-02-25T15:20:22Z</dcterms:modified>
</cp:coreProperties>
</file>