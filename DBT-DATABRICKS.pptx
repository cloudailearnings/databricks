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9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A6D43-3565-9BD7-D5FC-DD170489B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003CF-F7AA-C6C5-ADF0-51C66EF04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86750-D4B8-090E-F7E0-29B50ED34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AB565-A56D-93A9-C0A6-2B8ABD465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9E0EB-9C20-BC20-9D4E-59483F75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54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9B73F-4577-5FF5-0C66-51EB3F19E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67A93-F1EF-844F-6214-3B9E95751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23854-532A-5667-F007-B6F70EF73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0D4AB-5235-8A41-BF49-B57ED205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D6366-ACF3-4ACE-FDF3-D3945FC26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6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D3621-BC81-1024-6EE3-EF1182C12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810C7-35FE-4ABE-A6B7-1222A0E03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C402C-7F35-1D5A-D39B-85F108DE3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E4E0E-3E37-E7F3-11B1-AFCC7BD39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0B74A-F108-163C-CC7E-590FE6A8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59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0AC37-EC7B-A9C7-C303-90D7DF314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4F018-EAA5-3CD9-9353-6247FC7EB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46286F-90AD-AB0F-77EC-9002DCE1B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C75BD-7119-538D-C9E2-08E330ACD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D2B81-2F51-F5D5-5F10-40B7D579B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6B652-075A-CE30-2E43-F3803BDD0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34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DD88C-D109-EDC4-4EAB-4ABE97DF2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81B6C-C3AF-9172-6993-0384D5423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F16BA8-4E5B-475C-ABF7-BB3DD518CC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8C6F34-0F43-91B7-9039-2D36B73FB0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82AADB-218E-ACD7-A866-79F676F3D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0DCFBE-2B87-743F-99E0-3053DE97D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87F266-6380-22ED-8996-27A38B5C3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3C34B-9A73-30CC-1401-88A4236B2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045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45C8-5FD4-D230-73BC-C3324EB7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33108-80D4-B844-9643-968E05154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C17504-02D6-6AAE-09B2-DA9A69DBA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35B69-3531-7F00-3A9D-1B5FEA11E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74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440069-7CAD-26C8-DAE2-CA4477518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D938F9-DD00-8CDA-8258-426ACF5D1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40077-84FD-239D-EEA3-E7CF8D1AA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72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95AC4-9767-68E5-0261-26B8F826E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35C4A-6F62-94FD-2CD4-DF2AE2FE3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88500-06FD-EEAC-7C33-63FBF3B10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E218A-9093-7E6E-5042-36001E741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7BC34A-25B0-7B2A-7C48-C82D76B1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EBC56-EC1B-1DFD-4D6F-AF4595A0B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774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BB1D6-F0CB-74AD-C3A4-23EDB6EA5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9BF297-7EAC-D45A-1399-2E2D335FFA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98115-FB59-1DA0-6743-A84E4EABE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62EFD-F2A1-FD0D-5314-EC01F7C18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F1E64-810E-4BD6-EEAD-6A496F411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98060-D6FA-9677-D8DB-10BF84F58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222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33D6-91FA-F38F-806C-B3145A03F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AF612-5B2F-25E2-8F1A-4EA0F3735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8DE4F-829F-B0CF-62B1-912397E90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B1831-7F61-3991-078A-ADF8A17AE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B77A9-4815-40F7-6325-4C9FE5070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28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5C25ED-B4E6-161D-9ADA-1D74433527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FF79D-36CC-3CEC-581D-FCEF7CC08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E5F8E-FE3F-C4AC-4FFE-B8E33CF55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A6629-BC80-4C45-823F-D6FB6024695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F1369-DDF2-3ED7-17F8-325A41261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8A27-59DF-620A-742E-F53B989DE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57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34BBE7-3BD7-2FCD-3B54-C6CC6A1AD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7486DA-8CD8-ECFA-4CBF-C9B12AC92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8C854-A812-38D7-B6FC-BC4F39EB1E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8A6629-BC80-4C45-823F-D6FB6024695C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B90C8-AFC0-9DDF-287D-C3834482C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0A29F5-5B1B-4287-39C5-37908D935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2D524-E95C-46DA-8033-D9582E40B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763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59D5F-AF17-4FAE-2818-CE94171B1C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DBT-DATABRICKS</a:t>
            </a:r>
          </a:p>
        </p:txBody>
      </p:sp>
    </p:spTree>
    <p:extLst>
      <p:ext uri="{BB962C8B-B14F-4D97-AF65-F5344CB8AC3E}">
        <p14:creationId xmlns:p14="http://schemas.microsoft.com/office/powerpoint/2010/main" val="1919969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70293E-5DD3-95D0-9035-EA9299135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0" y="368142"/>
            <a:ext cx="12040219" cy="612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5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90C827-4877-6A62-A9AF-47F656737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8244"/>
            <a:ext cx="12192000" cy="578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77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2CCCA0-C4BE-2AD9-6609-FD993C9B4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437996"/>
            <a:ext cx="12179926" cy="598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66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8BD5D3-E398-307D-FCA9-96D647065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8" y="599929"/>
            <a:ext cx="12116423" cy="565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36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22360-3FF2-3EA3-382B-209AFFB26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91737"/>
          </a:xfrm>
        </p:spPr>
        <p:txBody>
          <a:bodyPr/>
          <a:lstStyle/>
          <a:p>
            <a:r>
              <a:rPr lang="en-US" dirty="0"/>
              <a:t>Start  server warehouse and add catalog with schema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F6802-1CDE-B903-429E-0645DCFF1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6" y="875993"/>
            <a:ext cx="12141824" cy="598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942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E4452A-BD56-3668-BA80-DD93E8EEF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339566"/>
            <a:ext cx="12179926" cy="617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756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66934B-89CF-707A-69F5-81BA73ED9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472923"/>
            <a:ext cx="12179926" cy="591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4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15FC95-2223-FE11-33F2-2C793E227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0404"/>
            <a:ext cx="12192000" cy="577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42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43A22C-821F-3A7E-FB4C-5FC6C44E2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899"/>
            <a:ext cx="12192000" cy="604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86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E72CEB-A738-834E-01D5-539101A01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" y="253837"/>
            <a:ext cx="12179926" cy="635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65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670E5-B70D-9CBA-3E43-42015E910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dbt</a:t>
            </a:r>
            <a:r>
              <a:rPr lang="en-US" dirty="0"/>
              <a:t> + Databricks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4787D-DDB7-CCA9-EF45-0D268325E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🟢 Databricks = Compute + Storage (Delta tables)</a:t>
            </a:r>
          </a:p>
          <a:p>
            <a:r>
              <a:rPr lang="en-US" dirty="0"/>
              <a:t>🟠 </a:t>
            </a:r>
            <a:r>
              <a:rPr lang="en-US" dirty="0" err="1"/>
              <a:t>dbt</a:t>
            </a:r>
            <a:r>
              <a:rPr lang="en-US" dirty="0"/>
              <a:t> = Transformation layer (SQL-based modeling)</a:t>
            </a:r>
          </a:p>
          <a:p>
            <a:r>
              <a:rPr lang="en-US" dirty="0" err="1"/>
              <a:t>dbt</a:t>
            </a:r>
            <a:r>
              <a:rPr lang="en-US" dirty="0"/>
              <a:t> creates </a:t>
            </a:r>
            <a:r>
              <a:rPr lang="en-US" b="1" dirty="0"/>
              <a:t>models (tables/views)</a:t>
            </a:r>
            <a:r>
              <a:rPr lang="en-US" dirty="0"/>
              <a:t> in Databricks.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150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5C878-D618-0195-A682-4CDECB504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Check Databricks 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1D737-9A5B-27A9-D25F-E0CDC8A0C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your screenshot bottom right shows:</a:t>
            </a:r>
          </a:p>
          <a:p>
            <a:r>
              <a:rPr lang="en-US" dirty="0"/>
              <a:t>👉 Checking connection...</a:t>
            </a:r>
          </a:p>
          <a:p>
            <a:r>
              <a:rPr lang="en-US" dirty="0"/>
              <a:t>Wait until it shows:</a:t>
            </a:r>
          </a:p>
          <a:p>
            <a:r>
              <a:rPr lang="en-US" dirty="0"/>
              <a:t>Connected</a:t>
            </a:r>
          </a:p>
          <a:p>
            <a:r>
              <a:rPr lang="en-US" dirty="0"/>
              <a:t>If it fails:</a:t>
            </a:r>
            <a:br>
              <a:rPr lang="en-US" dirty="0"/>
            </a:br>
            <a:r>
              <a:rPr lang="en-US" dirty="0"/>
              <a:t>Go to:</a:t>
            </a:r>
          </a:p>
          <a:p>
            <a:r>
              <a:rPr lang="en-US" dirty="0"/>
              <a:t>👉 Deploy → Environments → Check Databricks credentials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331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AE4CA-18FA-C07B-B896-CA17787B6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✅ STEP 2: Create Your First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96C88-BDFE-7029-6C10-D81CDCEE6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914" y="1253331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Inside models/ folder:</a:t>
            </a:r>
          </a:p>
          <a:p>
            <a:pPr marL="0" indent="0">
              <a:buNone/>
            </a:pPr>
            <a:r>
              <a:rPr lang="en-US" b="1" dirty="0"/>
              <a:t>Click:</a:t>
            </a:r>
          </a:p>
          <a:p>
            <a:pPr marL="0" indent="0">
              <a:buNone/>
            </a:pPr>
            <a:r>
              <a:rPr lang="en-US" b="1" dirty="0"/>
              <a:t>models → Create new file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Name it:</a:t>
            </a:r>
          </a:p>
          <a:p>
            <a:pPr marL="0" indent="0">
              <a:buNone/>
            </a:pPr>
            <a:r>
              <a:rPr lang="en-US" b="1" dirty="0" err="1"/>
              <a:t>customers.sql</a:t>
            </a:r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Add example transformation:</a:t>
            </a:r>
          </a:p>
          <a:p>
            <a:pPr marL="0" indent="0">
              <a:buNone/>
            </a:pPr>
            <a:r>
              <a:rPr lang="en-US" dirty="0"/>
              <a:t>select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customer_id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upper(</a:t>
            </a:r>
            <a:r>
              <a:rPr lang="en-US" dirty="0" err="1"/>
              <a:t>customer_name</a:t>
            </a:r>
            <a:r>
              <a:rPr lang="en-US" dirty="0"/>
              <a:t>) as </a:t>
            </a:r>
            <a:r>
              <a:rPr lang="en-US" dirty="0" err="1"/>
              <a:t>customer_name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country,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current_timestamp</a:t>
            </a:r>
            <a:r>
              <a:rPr lang="en-US" dirty="0"/>
              <a:t>() as </a:t>
            </a:r>
            <a:r>
              <a:rPr lang="en-US" dirty="0" err="1"/>
              <a:t>load_time</a:t>
            </a:r>
            <a:br>
              <a:rPr lang="en-US" dirty="0"/>
            </a:br>
            <a:r>
              <a:rPr lang="en-US" dirty="0"/>
              <a:t>from {{ source('bronze', '</a:t>
            </a:r>
            <a:r>
              <a:rPr lang="en-US" dirty="0" err="1"/>
              <a:t>customers_raw</a:t>
            </a:r>
            <a:r>
              <a:rPr lang="en-US" dirty="0"/>
              <a:t>') }}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Save file.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867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322A-A952-8A2B-BB02-859431391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✅ STEP 3: Define Source (Very Important)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18D9C-A5AC-5525-6C3F-B737E736A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 models folder create:</a:t>
            </a:r>
          </a:p>
          <a:p>
            <a:r>
              <a:rPr lang="en-US" dirty="0" err="1"/>
              <a:t>sources.yml</a:t>
            </a:r>
            <a:endParaRPr lang="en-US" dirty="0"/>
          </a:p>
          <a:p>
            <a:r>
              <a:rPr lang="en-US" dirty="0"/>
              <a:t>Add:</a:t>
            </a:r>
          </a:p>
          <a:p>
            <a:r>
              <a:rPr lang="en-US" dirty="0"/>
              <a:t>version: 2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sources:</a:t>
            </a:r>
            <a:br>
              <a:rPr lang="en-US" dirty="0"/>
            </a:br>
            <a:r>
              <a:rPr lang="en-US" dirty="0"/>
              <a:t>  - name: bronze</a:t>
            </a:r>
            <a:br>
              <a:rPr lang="en-US" dirty="0"/>
            </a:br>
            <a:r>
              <a:rPr lang="en-US" dirty="0"/>
              <a:t>    database: </a:t>
            </a:r>
            <a:r>
              <a:rPr lang="en-US" dirty="0" err="1"/>
              <a:t>your_catalog_name</a:t>
            </a:r>
            <a:br>
              <a:rPr lang="en-US" dirty="0"/>
            </a:br>
            <a:r>
              <a:rPr lang="en-US" dirty="0"/>
              <a:t>    schema: </a:t>
            </a:r>
            <a:r>
              <a:rPr lang="en-US" dirty="0" err="1"/>
              <a:t>bronze_schema</a:t>
            </a:r>
            <a:br>
              <a:rPr lang="en-US" dirty="0"/>
            </a:br>
            <a:r>
              <a:rPr lang="en-US" dirty="0"/>
              <a:t>    tables:</a:t>
            </a:r>
            <a:br>
              <a:rPr lang="en-US" dirty="0"/>
            </a:br>
            <a:r>
              <a:rPr lang="en-US" dirty="0"/>
              <a:t>      - name: </a:t>
            </a:r>
            <a:r>
              <a:rPr lang="en-US" dirty="0" err="1"/>
              <a:t>customers_raw</a:t>
            </a:r>
            <a:endParaRPr lang="en-US" dirty="0"/>
          </a:p>
          <a:p>
            <a:r>
              <a:rPr lang="en-US" dirty="0"/>
              <a:t>⚠ Replace:</a:t>
            </a:r>
          </a:p>
          <a:p>
            <a:r>
              <a:rPr lang="en-US" dirty="0" err="1"/>
              <a:t>your_catalog_name</a:t>
            </a:r>
            <a:endParaRPr lang="en-US" dirty="0"/>
          </a:p>
          <a:p>
            <a:r>
              <a:rPr lang="en-US" dirty="0" err="1"/>
              <a:t>bronze_schema</a:t>
            </a:r>
            <a:endParaRPr lang="en-US" dirty="0"/>
          </a:p>
          <a:p>
            <a:r>
              <a:rPr lang="en-US" dirty="0"/>
              <a:t>With your Databricks Unity Catalog values.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7278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FBBDE-0F75-6EF9-C727-F3D857364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✅ STEP 4: Run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63D65-D73D-0962-2943-5BCC299CC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bottom command bar type:</a:t>
            </a:r>
          </a:p>
          <a:p>
            <a:r>
              <a:rPr lang="en-US" dirty="0" err="1"/>
              <a:t>dbt</a:t>
            </a:r>
            <a:r>
              <a:rPr lang="en-US" dirty="0"/>
              <a:t> run</a:t>
            </a:r>
          </a:p>
          <a:p>
            <a:r>
              <a:rPr lang="en-US" dirty="0"/>
              <a:t>Or only that model:</a:t>
            </a:r>
          </a:p>
          <a:p>
            <a:r>
              <a:rPr lang="en-US" dirty="0" err="1"/>
              <a:t>dbt</a:t>
            </a:r>
            <a:r>
              <a:rPr lang="en-US" dirty="0"/>
              <a:t> run --select customers</a:t>
            </a:r>
          </a:p>
          <a:p>
            <a:r>
              <a:rPr lang="en-US" dirty="0"/>
              <a:t>If successful:</a:t>
            </a:r>
          </a:p>
          <a:p>
            <a:r>
              <a:rPr lang="en-US" dirty="0"/>
              <a:t>✔ Table/View created in Databricks</a:t>
            </a:r>
          </a:p>
          <a:p>
            <a:r>
              <a:rPr lang="en-US" dirty="0"/>
              <a:t>Go to:</a:t>
            </a:r>
          </a:p>
          <a:p>
            <a:r>
              <a:rPr lang="en-US" dirty="0"/>
              <a:t>👉 Databricks → Catalog → Check table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1054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582B3-48DE-6F37-C039-BB6EDF5FB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Transformations You Can Do in </a:t>
            </a:r>
            <a:r>
              <a:rPr lang="en-US" dirty="0" err="1"/>
              <a:t>dbt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E8A49-7DAA-46C9-8E48-BD37FF5D8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1️⃣ Basic Cleaning (Silver Layer)</a:t>
            </a:r>
          </a:p>
          <a:p>
            <a:r>
              <a:rPr lang="en-US" dirty="0"/>
              <a:t>select</a:t>
            </a:r>
            <a:br>
              <a:rPr lang="en-US" dirty="0"/>
            </a:br>
            <a:r>
              <a:rPr lang="en-US" dirty="0"/>
              <a:t>    id,</a:t>
            </a:r>
            <a:br>
              <a:rPr lang="en-US" dirty="0"/>
            </a:br>
            <a:r>
              <a:rPr lang="en-US" dirty="0"/>
              <a:t>    trim(name) as name,</a:t>
            </a:r>
            <a:br>
              <a:rPr lang="en-US" dirty="0"/>
            </a:br>
            <a:r>
              <a:rPr lang="en-US" dirty="0"/>
              <a:t>    cast(amount as double) as amount</a:t>
            </a:r>
            <a:br>
              <a:rPr lang="en-US" dirty="0"/>
            </a:br>
            <a:r>
              <a:rPr lang="en-US" dirty="0"/>
              <a:t>from {{ ref('</a:t>
            </a:r>
            <a:r>
              <a:rPr lang="en-US" dirty="0" err="1"/>
              <a:t>raw_orders</a:t>
            </a:r>
            <a:r>
              <a:rPr lang="en-US" dirty="0"/>
              <a:t>') }}</a:t>
            </a:r>
            <a:br>
              <a:rPr lang="en-US" dirty="0"/>
            </a:br>
            <a:r>
              <a:rPr lang="en-US" dirty="0"/>
              <a:t>where amount is not null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916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B4FB3-74C6-8131-5A7B-D645B9C07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50C1C-5227-2159-E239-CC914E0D1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2️⃣ Joins</a:t>
            </a:r>
          </a:p>
          <a:p>
            <a:r>
              <a:rPr lang="en-US" dirty="0"/>
              <a:t>select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o.order_id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c.customer_name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o.amount</a:t>
            </a:r>
            <a:br>
              <a:rPr lang="en-US" dirty="0"/>
            </a:br>
            <a:r>
              <a:rPr lang="en-US" dirty="0"/>
              <a:t>from {{ ref('orders') }} o</a:t>
            </a:r>
            <a:br>
              <a:rPr lang="en-US" dirty="0"/>
            </a:br>
            <a:r>
              <a:rPr lang="en-US" dirty="0"/>
              <a:t>left join {{ ref('customers') }} c</a:t>
            </a:r>
            <a:br>
              <a:rPr lang="en-US" dirty="0"/>
            </a:br>
            <a:r>
              <a:rPr lang="en-US" dirty="0"/>
              <a:t>    on </a:t>
            </a:r>
            <a:r>
              <a:rPr lang="en-US" dirty="0" err="1"/>
              <a:t>o.customer_id</a:t>
            </a:r>
            <a:r>
              <a:rPr lang="en-US" dirty="0"/>
              <a:t> = </a:t>
            </a:r>
            <a:r>
              <a:rPr lang="en-US" dirty="0" err="1"/>
              <a:t>c.customer_id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89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7A711-97B2-DF31-A7A6-05668B6F9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38FE2-782B-E6AD-6385-14D0070D5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3️⃣ Aggregations (Gold Layer)</a:t>
            </a:r>
          </a:p>
          <a:p>
            <a:endParaRPr lang="en-US" dirty="0"/>
          </a:p>
          <a:p>
            <a:r>
              <a:rPr lang="en-US" dirty="0"/>
              <a:t>select</a:t>
            </a:r>
          </a:p>
          <a:p>
            <a:r>
              <a:rPr lang="en-US" dirty="0"/>
              <a:t>    </a:t>
            </a:r>
            <a:r>
              <a:rPr lang="en-US" dirty="0" err="1"/>
              <a:t>customer_id</a:t>
            </a:r>
            <a:r>
              <a:rPr lang="en-US" dirty="0"/>
              <a:t>,</a:t>
            </a:r>
          </a:p>
          <a:p>
            <a:r>
              <a:rPr lang="en-US" dirty="0"/>
              <a:t>    sum(amount) as </a:t>
            </a:r>
            <a:r>
              <a:rPr lang="en-US" dirty="0" err="1"/>
              <a:t>total_spent</a:t>
            </a:r>
            <a:r>
              <a:rPr lang="en-US" dirty="0"/>
              <a:t>,</a:t>
            </a:r>
          </a:p>
          <a:p>
            <a:r>
              <a:rPr lang="en-US" dirty="0"/>
              <a:t>    count(</a:t>
            </a:r>
            <a:r>
              <a:rPr lang="en-US" dirty="0" err="1"/>
              <a:t>order_id</a:t>
            </a:r>
            <a:r>
              <a:rPr lang="en-US" dirty="0"/>
              <a:t>) as </a:t>
            </a:r>
            <a:r>
              <a:rPr lang="en-US" dirty="0" err="1"/>
              <a:t>total_orders</a:t>
            </a:r>
            <a:endParaRPr lang="en-US" dirty="0"/>
          </a:p>
          <a:p>
            <a:r>
              <a:rPr lang="en-US" dirty="0"/>
              <a:t>from {{ ref('</a:t>
            </a:r>
            <a:r>
              <a:rPr lang="en-US" dirty="0" err="1"/>
              <a:t>orders_clean</a:t>
            </a:r>
            <a:r>
              <a:rPr lang="en-US" dirty="0"/>
              <a:t>') }}</a:t>
            </a:r>
          </a:p>
          <a:p>
            <a:r>
              <a:rPr lang="en-US" dirty="0"/>
              <a:t>group by </a:t>
            </a:r>
            <a:r>
              <a:rPr lang="en-US" dirty="0" err="1"/>
              <a:t>customer_id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572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E978A-C80D-6E4A-2B8C-A5AFAB734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4️⃣ Incremental Models (Very Important in Databricks)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9B87-D81C-B850-A7FD-31F3E5A5E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model file:</a:t>
            </a:r>
          </a:p>
          <a:p>
            <a:r>
              <a:rPr lang="en-US" dirty="0"/>
              <a:t>{{ config(</a:t>
            </a:r>
            <a:br>
              <a:rPr lang="en-US" dirty="0"/>
            </a:br>
            <a:r>
              <a:rPr lang="en-US" dirty="0"/>
              <a:t>    materialized='incremental',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unique_key</a:t>
            </a:r>
            <a:r>
              <a:rPr lang="en-US" dirty="0"/>
              <a:t>='</a:t>
            </a:r>
            <a:r>
              <a:rPr lang="en-US" dirty="0" err="1"/>
              <a:t>order_id</a:t>
            </a:r>
            <a:r>
              <a:rPr lang="en-US" dirty="0"/>
              <a:t>'</a:t>
            </a:r>
            <a:br>
              <a:rPr lang="en-US" dirty="0"/>
            </a:br>
            <a:r>
              <a:rPr lang="en-US" dirty="0"/>
              <a:t>) }}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select *</a:t>
            </a:r>
            <a:br>
              <a:rPr lang="en-US" dirty="0"/>
            </a:br>
            <a:r>
              <a:rPr lang="en-US" dirty="0"/>
              <a:t>from {{ source('bronze', '</a:t>
            </a:r>
            <a:r>
              <a:rPr lang="en-US" dirty="0" err="1"/>
              <a:t>orders_raw</a:t>
            </a:r>
            <a:r>
              <a:rPr lang="en-US" dirty="0"/>
              <a:t>') }}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{% if </a:t>
            </a:r>
            <a:r>
              <a:rPr lang="en-US" dirty="0" err="1"/>
              <a:t>is_incremental</a:t>
            </a:r>
            <a:r>
              <a:rPr lang="en-US" dirty="0"/>
              <a:t>() %}</a:t>
            </a:r>
            <a:br>
              <a:rPr lang="en-US" dirty="0"/>
            </a:br>
            <a:r>
              <a:rPr lang="en-US" dirty="0"/>
              <a:t>where </a:t>
            </a:r>
            <a:r>
              <a:rPr lang="en-US" dirty="0" err="1"/>
              <a:t>updated_at</a:t>
            </a:r>
            <a:r>
              <a:rPr lang="en-US" dirty="0"/>
              <a:t> &gt; (select max(</a:t>
            </a:r>
            <a:r>
              <a:rPr lang="en-US" dirty="0" err="1"/>
              <a:t>updated_at</a:t>
            </a:r>
            <a:r>
              <a:rPr lang="en-US" dirty="0"/>
              <a:t>) from {{ this }})</a:t>
            </a:r>
            <a:br>
              <a:rPr lang="en-US" dirty="0"/>
            </a:br>
            <a:r>
              <a:rPr lang="en-US" dirty="0"/>
              <a:t>{% endif %}</a:t>
            </a:r>
          </a:p>
          <a:p>
            <a:r>
              <a:rPr lang="en-US" dirty="0"/>
              <a:t>This avoids full reload every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757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E5232-8BC8-5D1A-4E3E-BCE601497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🔷 Materializations (Important)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64524-D455-7EEF-04F1-7288D8E2E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dbt</a:t>
            </a:r>
            <a:r>
              <a:rPr lang="en-US" dirty="0"/>
              <a:t> + Databricks you can choose:</a:t>
            </a:r>
          </a:p>
          <a:p>
            <a:r>
              <a:rPr lang="en-US" dirty="0"/>
              <a:t>{{ config(materialized='table') }}</a:t>
            </a:r>
            <a:br>
              <a:rPr lang="en-US" dirty="0"/>
            </a:br>
            <a:r>
              <a:rPr lang="en-US" dirty="0"/>
              <a:t>{{ config(materialized='view') }}</a:t>
            </a:r>
            <a:br>
              <a:rPr lang="en-US" dirty="0"/>
            </a:br>
            <a:r>
              <a:rPr lang="en-US" dirty="0"/>
              <a:t>{{ config(materialized='incremental') }}</a:t>
            </a:r>
          </a:p>
          <a:p>
            <a:r>
              <a:rPr lang="en-US" dirty="0"/>
              <a:t>Default is view.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424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8130B-26C1-E9A8-9AC3-969110366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🔷 Production Structure (Recommended)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40E91-7A51-BC60-2421-E83162D0F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models/</a:t>
            </a:r>
          </a:p>
          <a:p>
            <a:r>
              <a:rPr lang="en-US" dirty="0"/>
              <a:t> ├── bronze/</a:t>
            </a:r>
          </a:p>
          <a:p>
            <a:r>
              <a:rPr lang="en-US" dirty="0"/>
              <a:t> ├── silver/</a:t>
            </a:r>
          </a:p>
          <a:p>
            <a:r>
              <a:rPr lang="en-US" dirty="0"/>
              <a:t> ├── gold/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r>
              <a:rPr lang="en-US" dirty="0"/>
              <a:t>bronze → raw reference models</a:t>
            </a:r>
          </a:p>
          <a:p>
            <a:r>
              <a:rPr lang="en-US" dirty="0"/>
              <a:t>silver → cleaned joins</a:t>
            </a:r>
          </a:p>
          <a:p>
            <a:r>
              <a:rPr lang="en-US" dirty="0"/>
              <a:t>gold → aggregated reporting tables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956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F8363-7DEB-DE4C-BD70-C8AF7C6A8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16F7-229B-E5DF-13C4-CEABFC46E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🔷 After Running Models</a:t>
            </a:r>
          </a:p>
          <a:p>
            <a:r>
              <a:rPr lang="en-US" dirty="0"/>
              <a:t>In Databricks you can:</a:t>
            </a:r>
          </a:p>
          <a:p>
            <a:r>
              <a:rPr lang="en-US" dirty="0"/>
              <a:t>SELECT * FROM </a:t>
            </a:r>
            <a:r>
              <a:rPr lang="en-US" dirty="0" err="1"/>
              <a:t>catalog.schema.customers</a:t>
            </a:r>
            <a:r>
              <a:rPr lang="en-US" dirty="0"/>
              <a:t>;</a:t>
            </a:r>
          </a:p>
          <a:p>
            <a:r>
              <a:rPr lang="en-US" dirty="0"/>
              <a:t>You will see transformed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849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0534A-3D0D-F35B-401D-89FB2BD40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05E0BD-805E-8A96-E79C-DEF601FD30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raw data to Databricks (Delta table)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Define source in dbt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transformation SQL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dbt run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 in Databricks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tests (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dbt test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Schedule job in dbt Cloud</a:t>
            </a:r>
          </a:p>
        </p:txBody>
      </p:sp>
    </p:spTree>
    <p:extLst>
      <p:ext uri="{BB962C8B-B14F-4D97-AF65-F5344CB8AC3E}">
        <p14:creationId xmlns:p14="http://schemas.microsoft.com/office/powerpoint/2010/main" val="24307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</TotalTime>
  <Words>668</Words>
  <Application>Microsoft Office PowerPoint</Application>
  <PresentationFormat>Widescreen</PresentationFormat>
  <Paragraphs>82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Arial Unicode MS</vt:lpstr>
      <vt:lpstr>Office Theme</vt:lpstr>
      <vt:lpstr>DBT-DATABRICKS</vt:lpstr>
      <vt:lpstr>PowerPoint Presentation</vt:lpstr>
      <vt:lpstr>PowerPoint Presentation</vt:lpstr>
      <vt:lpstr>PowerPoint Presentation</vt:lpstr>
      <vt:lpstr>PowerPoint Presentation</vt:lpstr>
      <vt:lpstr>Start  server warehouse and add catalog with schema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dbt + Databricks</vt:lpstr>
      <vt:lpstr>STEP 1: Check Databricks Connection</vt:lpstr>
      <vt:lpstr>✅ STEP 2: Create Your First Model</vt:lpstr>
      <vt:lpstr>✅ STEP 3: Define Source (Very Important)</vt:lpstr>
      <vt:lpstr>✅ STEP 4: Run Model</vt:lpstr>
      <vt:lpstr>Types of Transformations You Can Do in dbt</vt:lpstr>
      <vt:lpstr>PowerPoint Presentation</vt:lpstr>
      <vt:lpstr>PowerPoint Presentation</vt:lpstr>
      <vt:lpstr>4️⃣ Incremental Models (Very Important in Databricks)</vt:lpstr>
      <vt:lpstr>🔷 Materializations (Important)</vt:lpstr>
      <vt:lpstr>🔷 Production Structure (Recommended)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1</cp:revision>
  <dcterms:created xsi:type="dcterms:W3CDTF">2026-03-02T17:51:16Z</dcterms:created>
  <dcterms:modified xsi:type="dcterms:W3CDTF">2026-03-03T06:32:35Z</dcterms:modified>
</cp:coreProperties>
</file>